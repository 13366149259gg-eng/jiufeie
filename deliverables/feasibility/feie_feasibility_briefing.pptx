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综合治理可行性研究报告与实施方案</a:t>
            </a:r>
          </a:p>
          <a:p/>
          <a:p>
            <a:r>
              <a:t>乙方负责技术论证与方案编制；甲方依法确定业主、审批、资金及最终工程范围。</a:t>
            </a:r>
          </a:p>
          <a:p/>
          <a:p>
            <a:r>
              <a:t>依据：B01 S02 S03 S04 S05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[S04] 国务院关于印发《固体废物综合治理行动计划》的通知（国发〔2025〕14号）</a:t>
            </a:r>
          </a:p>
          <a:p>
            <a:r>
              <a:t>https://www.mee.gov.cn/zcwj/gwywj/202601/t20260105_1139840.shtml</a:t>
            </a:r>
          </a:p>
          <a:p>
            <a:r>
              <a:t>定位：（十三）、（二十三）、（二十五）；一场一策与停用填埋场封场治理；国家政策文件；2027年节点不等于全量开挖要求</a:t>
            </a:r>
          </a:p>
          <a:p>
            <a:r>
              <a:t>[S05] 固体废物污染防治“十五五”规划</a:t>
            </a:r>
          </a:p>
          <a:p>
            <a:r>
              <a:t>https://www.mee.gov.cn/xxgk2018/xxgk/xxgk03/202607/t20260714_1161736.html</a:t>
            </a:r>
          </a:p>
          <a:p>
            <a:r>
              <a:t>定位：二（四）；生活垃圾填埋场隐患台账、高风险综合治理、积存渗滤液与渗漏治理；国家专项规划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建议启动以分区开挖为主的综合治理前期</a:t>
            </a:r>
          </a:p>
          <a:p/>
          <a:p>
            <a:r>
              <a:t>不将缺少风险证据写成已确认高风险；不将全量开挖写成统一法律要求。</a:t>
            </a:r>
          </a:p>
          <a:p/>
          <a:p>
            <a:r>
              <a:t>依据：B01 S02 S03 C01 C02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[C01] 深圳市下坪环境园调研组赴海南、江西已封场简易填埋场调研学习</a:t>
            </a:r>
          </a:p>
          <a:p>
            <a:r>
              <a:t>https://cgj.sz.gov.cn/zwgk/gzdt/content/post_10610768.html</a:t>
            </a:r>
          </a:p>
          <a:p>
            <a:r>
              <a:t>定位：三亚、海口颜春岭、江西吉安泰和；实地考察开挖作业现场、筛分处置流程和工期管理；官方现场调研记录；未公布投资、工程量、完成率或收益</a:t>
            </a:r>
          </a:p>
          <a:p>
            <a:r>
              <a:t>[C02] 北京华源惠众环保科技有限公司（环保设施向公众开放资料）</a:t>
            </a:r>
          </a:p>
          <a:p>
            <a:r>
              <a:t>https://www.mee.gov.cn/home/ztbd/rdzl/sskf/kfss/bjs/dsipbj/202103/t20210309_823930.shtml</a:t>
            </a:r>
          </a:p>
          <a:p>
            <a:r>
              <a:t>定位：阿苏卫园区陈腐垃圾筛分3000 t/d、焚烧3000 t/d、渗滤液850 t/d；设施设计配置；不代表实际处理量或完成量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七项内容形成完整论证与实施链条</a:t>
            </a:r>
          </a:p>
          <a:p/>
          <a:p>
            <a:r>
              <a:t>文字报告和汇报使用同一20项来源登记及算术核算。</a:t>
            </a:r>
          </a:p>
          <a:p/>
          <a:p>
            <a:r>
              <a:t>依据：B01 S02 S03 S04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[S04] 国务院关于印发《固体废物综合治理行动计划》的通知（国发〔2025〕14号）</a:t>
            </a:r>
          </a:p>
          <a:p>
            <a:r>
              <a:t>https://www.mee.gov.cn/zcwj/gwywj/202601/t20260105_1139840.shtml</a:t>
            </a:r>
          </a:p>
          <a:p>
            <a:r>
              <a:t>定位：（十三）、（二十三）、（二十五）；一场一策与停用填埋场封场治理；国家政策文件；2027年节点不等于全量开挖要求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既有封场成果应保留，存量口径须统一</a:t>
            </a:r>
          </a:p>
          <a:p/>
          <a:p>
            <a:r>
              <a:t>B01为本次基础资料优先口径；B02仅保留存量差异，不采用其中未经证实的风险、产业收益等判断。</a:t>
            </a:r>
          </a:p>
          <a:p/>
          <a:p>
            <a:r>
              <a:t>依据：B01 B02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[B02] 《大岭山旧飞鹅垃圾填埋场背景资料》</a:t>
            </a:r>
          </a:p>
          <a:p/>
          <a:p>
            <a:r>
              <a:t>定位：存量垃圾170万m³，与B01的250万m³口径存在差异；仅用于识别场地基础数据差异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现有处理持续承压，开挖新增负荷先核算</a:t>
            </a:r>
          </a:p>
          <a:p/>
          <a:p>
            <a:r>
              <a:t>常规和应急规模不直接相加。吨与m³在工程设计中按实测密度及流量换算；170/180约94.4%不是设备可用率。</a:t>
            </a:r>
          </a:p>
          <a:p/>
          <a:p>
            <a:r>
              <a:t>依据：B01 S02 S03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六项信息缺口直接决定工程安全与投资</a:t>
            </a:r>
          </a:p>
          <a:p/>
          <a:p>
            <a:r>
              <a:t>表内为本次研究资料缺口，不表示运营单位从未实施相应工作，也不是已发生污染或违法事实。</a:t>
            </a:r>
          </a:p>
          <a:p/>
          <a:p>
            <a:r>
              <a:t>依据：B01 B02 S02 S03 S09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[B02] 《大岭山旧飞鹅垃圾填埋场背景资料》</a:t>
            </a:r>
          </a:p>
          <a:p/>
          <a:p>
            <a:r>
              <a:t>定位：存量垃圾170万m³，与B01的250万m³口径存在差异；仅用于识别场地基础数据差异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距现有合同记载到期日81天</a:t>
            </a:r>
          </a:p>
          <a:p/>
          <a:p>
            <a:r>
              <a:t>81天为日期差，并非剩余合同可结算天数。1583550元约158.4万元，按资料平均量价折算；不得替代采购预算。</a:t>
            </a:r>
          </a:p>
          <a:p/>
          <a:p>
            <a:r>
              <a:t>依据：B01 S02 S05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[S05] 固体废物污染防治“十五五”规划</a:t>
            </a:r>
          </a:p>
          <a:p>
            <a:r>
              <a:t>https://www.mee.gov.cn/xxgk2018/xxgk/xxgk03/202607/t20260714_1161736.html</a:t>
            </a:r>
          </a:p>
          <a:p>
            <a:r>
              <a:t>定位：二（四）；生活垃圾填埋场隐患台账、高风险综合治理、积存渗滤液与渗漏治理；国家专项规划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三条路线比较：维护先行，开挖为主体方向</a:t>
            </a:r>
          </a:p>
          <a:p/>
          <a:p>
            <a:r>
              <a:t>三方案并非法律强制排序。仅维持封场达标时A仍可能适用，本次拟定移除堆体、场底调查修复目标推荐C。</a:t>
            </a:r>
          </a:p>
          <a:p/>
          <a:p>
            <a:r>
              <a:t>依据：S02 S03 S06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[S06] 关于做好污染地块环境修复与开发建设衔接的指导意见</a:t>
            </a:r>
          </a:p>
          <a:p>
            <a:r>
              <a:t>https://www.mee.gov.cn/xxgk2018/xxgk/xxgk03/202601/t20260121_1142344.html</a:t>
            </a:r>
          </a:p>
          <a:p>
            <a:r>
              <a:t>定位：二（一）（二）、三（四）（五）、四（六）（七）；环境修复与开发建设程序衔接指导文件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开挖必要性落实到三个具体任务</a:t>
            </a:r>
          </a:p>
          <a:p/>
          <a:p>
            <a:r>
              <a:t>不存在从现有资料推出法律一律要求全量开挖的依据。后续利用也可有其他方案，具体用途依规划和风险、安全条件。</a:t>
            </a:r>
          </a:p>
          <a:p/>
          <a:p>
            <a:r>
              <a:t>依据：B01 S02 S03 S06 S12 S13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[S06] 关于做好污染地块环境修复与开发建设衔接的指导意见</a:t>
            </a:r>
          </a:p>
          <a:p>
            <a:r>
              <a:t>https://www.mee.gov.cn/xxgk2018/xxgk/xxgk03/202601/t20260121_1142344.html</a:t>
            </a:r>
          </a:p>
          <a:p>
            <a:r>
              <a:t>定位：二（一）（二）、三（四）（五）、四（六）（七）；环境修复与开发建设程序衔接指导文件</a:t>
            </a:r>
          </a:p>
          <a:p>
            <a:r>
              <a:t>[S12] 关于发布《建设用地土壤污染状况调查技术导则》等5项国家环境保护标准的公告</a:t>
            </a:r>
          </a:p>
          <a:p>
            <a:r>
              <a:t>https://www.mee.gov.cn/xxgk2018/xxgk/xxgk01/201912/t20191209_748356.html</a:t>
            </a:r>
          </a:p>
          <a:p>
            <a:r>
              <a:t>定位：HJ 25.1—2019、HJ 25.2—2019、HJ 25.3—2019、HJ 25.4—2019；公告另含HJ 682—2019；调查、风险评估、修复及监测技术标准</a:t>
            </a:r>
          </a:p>
          <a:p>
            <a:r>
              <a:t>[S13] 污染地块风险管控与土壤修复效果评估技术导则（HJ 25.5—2018）</a:t>
            </a:r>
          </a:p>
          <a:p>
            <a:r>
              <a:t>https://www.mee.gov.cn/ywgz/fgbz/bz/bzwb/trhj/201901/t20190107_688646.shtml</a:t>
            </a:r>
          </a:p>
          <a:p>
            <a:r>
              <a:t>定位：适用范围；污染地块风险管控与修复效果评估；技术标准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政策支持一场一策，标准约束全过程</a:t>
            </a:r>
          </a:p>
          <a:p/>
          <a:p>
            <a:r>
              <a:t>生态环境法典2026-08-15施行；现行法规、标准与技术参考分开。S02第8.7条针对填埋场产生的渗滤液连续两年满足规定，不是产水达标即可停运。</a:t>
            </a:r>
          </a:p>
          <a:p/>
          <a:p>
            <a:r>
              <a:t>依据：S01 S02 S03 S04 S05 S07 S08 S09 S10 S11 S12 S13</a:t>
            </a:r>
          </a:p>
          <a:p>
            <a:r>
              <a:t>[S01] 中华人民共和国生态环境法典</a:t>
            </a:r>
          </a:p>
          <a:p>
            <a:r>
              <a:t>https://www.mee.gov.cn/ywgz/fgbz/fl/202603/t20260313_1146496.shtml</a:t>
            </a:r>
          </a:p>
          <a:p>
            <a:r>
              <a:t>定位：第511—513条、第1242条；环境影响评价、土壤污染风险管控和修复相关章节；现行法律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[S04] 国务院关于印发《固体废物综合治理行动计划》的通知（国发〔2025〕14号）</a:t>
            </a:r>
          </a:p>
          <a:p>
            <a:r>
              <a:t>https://www.mee.gov.cn/zcwj/gwywj/202601/t20260105_1139840.shtml</a:t>
            </a:r>
          </a:p>
          <a:p>
            <a:r>
              <a:t>定位：（十三）、（二十三）、（二十五）；一场一策与停用填埋场封场治理；国家政策文件；2027年节点不等于全量开挖要求</a:t>
            </a:r>
          </a:p>
          <a:p>
            <a:r>
              <a:t>[S05] 固体废物污染防治“十五五”规划</a:t>
            </a:r>
          </a:p>
          <a:p>
            <a:r>
              <a:t>https://www.mee.gov.cn/xxgk2018/xxgk/xxgk03/202607/t20260714_1161736.html</a:t>
            </a:r>
          </a:p>
          <a:p>
            <a:r>
              <a:t>定位：二（四）；生活垃圾填埋场隐患台账、高风险综合治理、积存渗滤液与渗漏治理；国家专项规划</a:t>
            </a:r>
          </a:p>
          <a:p>
            <a:r>
              <a:t>[S07] 地下水管理条例（2026年修订）</a:t>
            </a:r>
          </a:p>
          <a:p>
            <a:r>
              <a:t>https://www.mee.gov.cn/zcwj/gwywj/202610/t20261009_1175922.shtml</a:t>
            </a:r>
          </a:p>
          <a:p>
            <a:r>
              <a:t>定位：第40、41、45条；防渗漏、监测井与风险评估；现行行政法规</a:t>
            </a:r>
          </a:p>
          <a:p>
            <a:r>
              <a:t>[S08] 城镇排水与污水处理条例（2026年修订）</a:t>
            </a:r>
          </a:p>
          <a:p>
            <a:r>
              <a:t>https://www.mee.gov.cn/zcwj/gwywj/202610/t20261009_1175944.shtml</a:t>
            </a:r>
          </a:p>
          <a:p>
            <a:r>
              <a:t>定位：排水许可、排水水质及接管监管相关条款；现行行政法规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  <a:p>
            <a:r>
              <a:t>[S10] 建筑施工噪声排放标准（GB 12523—2025）</a:t>
            </a:r>
          </a:p>
          <a:p>
            <a:r>
              <a:t>https://www.mee.gov.cn/ywgz/fgbz/bz/bzwb/wlhj/hjzspfbz/202512/t20251211_1137517.shtml</a:t>
            </a:r>
          </a:p>
          <a:p>
            <a:r>
              <a:t>定位：4.1—4.4、表1；昼70、夜55 dB(A)，特殊测点评价按条款；现行强制性国家标准；替代2011版</a:t>
            </a:r>
          </a:p>
          <a:p>
            <a:r>
              <a:t>[S11] 土壤环境质量 建设用地土壤污染风险管控标准（试行）（GB 36600—2018）</a:t>
            </a:r>
          </a:p>
          <a:p>
            <a:r>
              <a:t>https://www.mee.gov.cn/ywgz/fgbz/bz/bzwb/trhj/201807/t20180703_446027.shtml</a:t>
            </a:r>
          </a:p>
          <a:p>
            <a:r>
              <a:t>定位：建设用地土壤风险筛选与管制；不等同固废产品合规判定；建设用地土壤风险管控国家标准</a:t>
            </a:r>
          </a:p>
          <a:p>
            <a:r>
              <a:t>[S12] 关于发布《建设用地土壤污染状况调查技术导则》等5项国家环境保护标准的公告</a:t>
            </a:r>
          </a:p>
          <a:p>
            <a:r>
              <a:t>https://www.mee.gov.cn/xxgk2018/xxgk/xxgk01/201912/t20191209_748356.html</a:t>
            </a:r>
          </a:p>
          <a:p>
            <a:r>
              <a:t>定位：HJ 25.1—2019、HJ 25.2—2019、HJ 25.3—2019、HJ 25.4—2019；公告另含HJ 682—2019；调查、风险评估、修复及监测技术标准</a:t>
            </a:r>
          </a:p>
          <a:p>
            <a:r>
              <a:t>[S13] 污染地块风险管控与土壤修复效果评估技术导则（HJ 25.5—2018）</a:t>
            </a:r>
          </a:p>
          <a:p>
            <a:r>
              <a:t>https://www.mee.gov.cn/ywgz/fgbz/bz/bzwb/trhj/201901/t20190107_688646.shtml</a:t>
            </a:r>
          </a:p>
          <a:p>
            <a:r>
              <a:t>定位：适用范围；污染地块风险管控与修复效果评估；技术标准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全国现场记录支持路线，案例成本不能套用</a:t>
            </a:r>
          </a:p>
          <a:p/>
          <a:p>
            <a:r>
              <a:t>C01只支持实际调研及现场实践，不支持竣工财务数据。玉龙附件费用与工期未取得匹配官方原文，本次不作预算标杆。</a:t>
            </a:r>
          </a:p>
          <a:p/>
          <a:p>
            <a:r>
              <a:t>依据：C01</a:t>
            </a:r>
          </a:p>
          <a:p>
            <a:r>
              <a:t>[C01] 深圳市下坪环境园调研组赴海南、江西已封场简易填埋场调研学习</a:t>
            </a:r>
          </a:p>
          <a:p>
            <a:r>
              <a:t>https://cgj.sz.gov.cn/zwgk/gzdt/content/post_10610768.html</a:t>
            </a:r>
          </a:p>
          <a:p>
            <a:r>
              <a:t>定位：三亚、海口颜春岭、江西吉安泰和；实地考察开挖作业现场、筛分处置流程和工期管理；官方现场调研记录；未公布投资、工程量、完成率或收益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成套能力与最终出口是关键经验</a:t>
            </a:r>
          </a:p>
          <a:p/>
          <a:p>
            <a:r>
              <a:t>阿苏卫公开于2021-03-09；营口为2019-05-15监管反例，不是成功项目或费用标杆。</a:t>
            </a:r>
          </a:p>
          <a:p/>
          <a:p>
            <a:r>
              <a:t>依据：C02 C05 S03</a:t>
            </a:r>
          </a:p>
          <a:p>
            <a:r>
              <a:t>[C02] 北京华源惠众环保科技有限公司（环保设施向公众开放资料）</a:t>
            </a:r>
          </a:p>
          <a:p>
            <a:r>
              <a:t>https://www.mee.gov.cn/home/ztbd/rdzl/sskf/kfss/bjs/dsipbj/202103/t20210309_823930.shtml</a:t>
            </a:r>
          </a:p>
          <a:p>
            <a:r>
              <a:t>定位：阿苏卫园区陈腐垃圾筛分3000 t/d、焚烧3000 t/d、渗滤液850 t/d；设施设计配置；不代表实际处理量或完成量</a:t>
            </a:r>
          </a:p>
          <a:p>
            <a:r>
              <a:t>[C05] 辽宁省营口市生活垃圾污染问题整改不力 浮于表面</a:t>
            </a:r>
          </a:p>
          <a:p>
            <a:r>
              <a:t>https://www.mee.gov.cn/xxgk2018/xxgk/xxgk15/201905/t20190515_703047.html</a:t>
            </a:r>
          </a:p>
          <a:p>
            <a:r>
              <a:t>定位：存在问题：最终处置出口不足、筛分发酵设施不能正常运行、垃圾多处周转；监管反面案例；不属于成功竣工或成本标杆，避免异地迁移代替最终治理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全过程闭环：控制设施先于污染暴露</a:t>
            </a:r>
          </a:p>
          <a:p/>
          <a:p>
            <a:r>
              <a:t>水气收集处理、设施和接收能力具备后再放行，不能只建设筛分线。</a:t>
            </a:r>
          </a:p>
          <a:p/>
          <a:p>
            <a:r>
              <a:t>依据：S02 S03 S06 S09 S12 S13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[S06] 关于做好污染地块环境修复与开发建设衔接的指导意见</a:t>
            </a:r>
          </a:p>
          <a:p>
            <a:r>
              <a:t>https://www.mee.gov.cn/xxgk2018/xxgk/xxgk03/202601/t20260121_1142344.html</a:t>
            </a:r>
          </a:p>
          <a:p>
            <a:r>
              <a:t>定位：二（一）（二）、三（四）（五）、四（六）（七）；环境修复与开发建设程序衔接指导文件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  <a:p>
            <a:r>
              <a:t>[S12] 关于发布《建设用地土壤污染状况调查技术导则》等5项国家环境保护标准的公告</a:t>
            </a:r>
          </a:p>
          <a:p>
            <a:r>
              <a:t>https://www.mee.gov.cn/xxgk2018/xxgk/xxgk01/201912/t20191209_748356.html</a:t>
            </a:r>
          </a:p>
          <a:p>
            <a:r>
              <a:t>定位：HJ 25.1—2019、HJ 25.2—2019、HJ 25.3—2019、HJ 25.4—2019；公告另含HJ 682—2019；调查、风险评估、修复及监测技术标准</a:t>
            </a:r>
          </a:p>
          <a:p>
            <a:r>
              <a:t>[S13] 污染地块风险管控与土壤修复效果评估技术导则（HJ 25.5—2018）</a:t>
            </a:r>
          </a:p>
          <a:p>
            <a:r>
              <a:t>https://www.mee.gov.cn/ywgz/fgbz/bz/bzwb/trhj/201901/t20190107_688646.shtml</a:t>
            </a:r>
          </a:p>
          <a:p>
            <a:r>
              <a:t>定位：适用范围；污染地块风险管控与修复效果评估；技术标准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调查形成同一工程边界、风险基线与量价输入</a:t>
            </a:r>
          </a:p>
          <a:p/>
          <a:p>
            <a:r>
              <a:t>布点与采样规模依据调查方案核定；30天只提交阶段性诊断，不代替完整或季节性调查。</a:t>
            </a:r>
          </a:p>
          <a:p/>
          <a:p>
            <a:r>
              <a:t>依据：B01 B02 S02 S03 S07 S11 S12 S13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[B02] 《大岭山旧飞鹅垃圾填埋场背景资料》</a:t>
            </a:r>
          </a:p>
          <a:p/>
          <a:p>
            <a:r>
              <a:t>定位：存量垃圾170万m³，与B01的250万m³口径存在差异；仅用于识别场地基础数据差异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[S07] 地下水管理条例（2026年修订）</a:t>
            </a:r>
          </a:p>
          <a:p>
            <a:r>
              <a:t>https://www.mee.gov.cn/zcwj/gwywj/202610/t20261009_1175922.shtml</a:t>
            </a:r>
          </a:p>
          <a:p>
            <a:r>
              <a:t>定位：第40、41、45条；防渗漏、监测井与风险评估；现行行政法规</a:t>
            </a:r>
          </a:p>
          <a:p>
            <a:r>
              <a:t>[S11] 土壤环境质量 建设用地土壤污染风险管控标准（试行）（GB 36600—2018）</a:t>
            </a:r>
          </a:p>
          <a:p>
            <a:r>
              <a:t>https://www.mee.gov.cn/ywgz/fgbz/bz/bzwb/trhj/201807/t20180703_446027.shtml</a:t>
            </a:r>
          </a:p>
          <a:p>
            <a:r>
              <a:t>定位：建设用地土壤风险筛选与管制；不等同固废产品合规判定；建设用地土壤风险管控国家标准</a:t>
            </a:r>
          </a:p>
          <a:p>
            <a:r>
              <a:t>[S12] 关于发布《建设用地土壤污染状况调查技术导则》等5项国家环境保护标准的公告</a:t>
            </a:r>
          </a:p>
          <a:p>
            <a:r>
              <a:t>https://www.mee.gov.cn/xxgk2018/xxgk/xxgk01/201912/t20191209_748356.html</a:t>
            </a:r>
          </a:p>
          <a:p>
            <a:r>
              <a:t>定位：HJ 25.1—2019、HJ 25.2—2019、HJ 25.3—2019、HJ 25.4—2019；公告另含HJ 682—2019；调查、风险评估、修复及监测技术标准</a:t>
            </a:r>
          </a:p>
          <a:p>
            <a:r>
              <a:t>[S13] 污染地块风险管控与土壤修复效果评估技术导则（HJ 25.5—2018）</a:t>
            </a:r>
          </a:p>
          <a:p>
            <a:r>
              <a:t>https://www.mee.gov.cn/ywgz/fgbz/bz/bzwb/trhj/201901/t20190107_688646.shtml</a:t>
            </a:r>
          </a:p>
          <a:p>
            <a:r>
              <a:t>定位：适用范围；污染地块风险管控与修复效果评估；技术标准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示范验证后放大，时间届满不等于放行</a:t>
            </a:r>
          </a:p>
          <a:p/>
          <a:p>
            <a:r>
              <a:t>示范实际规模按手续、安全、可用设施和接收能力确定。</a:t>
            </a:r>
          </a:p>
          <a:p/>
          <a:p>
            <a:r>
              <a:t>依据：S02 S03 S09 C01 C02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  <a:p>
            <a:r>
              <a:t>[C01] 深圳市下坪环境园调研组赴海南、江西已封场简易填埋场调研学习</a:t>
            </a:r>
          </a:p>
          <a:p>
            <a:r>
              <a:t>https://cgj.sz.gov.cn/zwgk/gzdt/content/post_10610768.html</a:t>
            </a:r>
          </a:p>
          <a:p>
            <a:r>
              <a:t>定位：三亚、海口颜春岭、江西吉安泰和；实地考察开挖作业现场、筛分处置流程和工期管理；官方现场调研记录；未公布投资、工程量、完成率或收益</a:t>
            </a:r>
          </a:p>
          <a:p>
            <a:r>
              <a:t>[C02] 北京华源惠众环保科技有限公司（环保设施向公众开放资料）</a:t>
            </a:r>
          </a:p>
          <a:p>
            <a:r>
              <a:t>https://www.mee.gov.cn/home/ztbd/rdzl/sskf/kfss/bjs/dsipbj/202103/t20210309_823930.shtml</a:t>
            </a:r>
          </a:p>
          <a:p>
            <a:r>
              <a:t>定位：阿苏卫园区陈腐垃圾筛分3000 t/d、焚烧3000 t/d、渗滤液850 t/d；设施设计配置；不代表实际处理量或完成量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分区分层开挖，液位与原衬层同步控制</a:t>
            </a:r>
          </a:p>
          <a:p/>
          <a:p>
            <a:r>
              <a:t>预处理井深草案宜5—6m，按现场条件确定。作业人员安全依专项设计和适用安全规定，包括持续检测、隔离、救援和禁火等。</a:t>
            </a:r>
          </a:p>
          <a:p/>
          <a:p>
            <a:r>
              <a:t>依据：S03 S02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水系统分流，新增污染水与浓液独立闭合</a:t>
            </a:r>
          </a:p>
          <a:p/>
          <a:p>
            <a:r>
              <a:t>新增水量按堆体抽排、雨水、沥水、冲洗、工艺水等核算，抽提地下水单列。浓缩液依固废鉴别和相关管理条件核查，不能自动全部认定危废。</a:t>
            </a:r>
          </a:p>
          <a:p/>
          <a:p>
            <a:r>
              <a:t>依据：B01 S02 S03 S08 S09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[S08] 城镇排水与污水处理条例（2026年修订）</a:t>
            </a:r>
          </a:p>
          <a:p>
            <a:r>
              <a:t>https://www.mee.gov.cn/zcwj/gwywj/202610/t20261009_1175944.shtml</a:t>
            </a:r>
          </a:p>
          <a:p>
            <a:r>
              <a:t>定位：排水许可、排水水质及接管监管相关条款；现行行政法规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浓缩液先保合法接收，再比较本场技术</a:t>
            </a:r>
          </a:p>
          <a:p/>
          <a:p>
            <a:r>
              <a:t>C03于2026-03-12科研验收，3月19日公开；不是工业化运行绩效。</a:t>
            </a:r>
          </a:p>
          <a:p/>
          <a:p>
            <a:r>
              <a:t>依据：B01 C03 S02 S09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[C03] 广东省住房和城乡建设厅科技创新计划项目《垃圾填埋场渗滤液膜浓液处理技术研究》顺利通过验收</a:t>
            </a:r>
          </a:p>
          <a:p>
            <a:r>
              <a:t>https://cgj.sz.gov.cn/zwgk/gzdt/content/post_12691232.html</a:t>
            </a:r>
          </a:p>
          <a:p>
            <a:r>
              <a:t>定位：2026-03-12科研验收；高效物化沉淀+强化生化处理+PS高级氧化组合中试；科研中试通过验收；不是全规模工程绩效或报价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每类物料均有合法终点，无出路停止新增</a:t>
            </a:r>
          </a:p>
          <a:p/>
          <a:p>
            <a:r>
              <a:t>质量和固废属性、合法用途及接受能力共同判定。按批准边界核量，水与湿/干质量保持同一计量口径。</a:t>
            </a:r>
          </a:p>
          <a:p/>
          <a:p>
            <a:r>
              <a:t>依据：S01 S03 S09 S11 C05</a:t>
            </a:r>
          </a:p>
          <a:p>
            <a:r>
              <a:t>[S01] 中华人民共和国生态环境法典</a:t>
            </a:r>
          </a:p>
          <a:p>
            <a:r>
              <a:t>https://www.mee.gov.cn/ywgz/fgbz/fl/202603/t20260313_1146496.shtml</a:t>
            </a:r>
          </a:p>
          <a:p>
            <a:r>
              <a:t>定位：第511—513条、第1242条；环境影响评价、土壤污染风险管控和修复相关章节；现行法律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  <a:p>
            <a:r>
              <a:t>[S11] 土壤环境质量 建设用地土壤污染风险管控标准（试行）（GB 36600—2018）</a:t>
            </a:r>
          </a:p>
          <a:p>
            <a:r>
              <a:t>https://www.mee.gov.cn/ywgz/fgbz/bz/bzwb/trhj/201807/t20180703_446027.shtml</a:t>
            </a:r>
          </a:p>
          <a:p>
            <a:r>
              <a:t>定位：建设用地土壤风险筛选与管制；不等同固废产品合规判定；建设用地土壤风险管控国家标准</a:t>
            </a:r>
          </a:p>
          <a:p>
            <a:r>
              <a:t>[C05] 辽宁省营口市生活垃圾污染问题整改不力 浮于表面</a:t>
            </a:r>
          </a:p>
          <a:p>
            <a:r>
              <a:t>https://www.mee.gov.cn/xxgk2018/xxgk/xxgk15/201905/t20190515_703047.html</a:t>
            </a:r>
          </a:p>
          <a:p>
            <a:r>
              <a:t>定位：存在问题：最终处置出口不足、筛分发酵设施不能正常运行、垃圾多处周转；监管反面案例；不属于成功竣工或成本标杆，避免异地迁移代替最终治理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水气、地下水、噪声与安全分层监测</a:t>
            </a:r>
          </a:p>
          <a:p/>
          <a:p>
            <a:r>
              <a:t>夜间最大声级幅度限制等依S10全文及适用测点执行。每日或每周技术参考不能降低已批准要求。</a:t>
            </a:r>
          </a:p>
          <a:p/>
          <a:p>
            <a:r>
              <a:t>依据：S02 S03 S10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[S10] 建筑施工噪声排放标准（GB 12523—2025）</a:t>
            </a:r>
          </a:p>
          <a:p>
            <a:r>
              <a:t>https://www.mee.gov.cn/ywgz/fgbz/bz/bzwb/wlhj/hjzspfbz/202512/t20251211_1137517.shtml</a:t>
            </a:r>
          </a:p>
          <a:p>
            <a:r>
              <a:t>定位：4.1—4.4、表1；昼70、夜55 dB(A)，特殊测点评价按条款；现行强制性国家标准；替代2011版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垃圾移除后，场底与地下水治理接续完成</a:t>
            </a:r>
          </a:p>
          <a:p/>
          <a:p>
            <a:r>
              <a:t>S02维护终止针对填埋场产生渗滤液连续两年符合规定，不是处理产水达标；污染地块修复、建设项目手续及用途程序分别履行。</a:t>
            </a:r>
          </a:p>
          <a:p/>
          <a:p>
            <a:r>
              <a:t>依据：S02 S06 S07 S11 S12 S13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[S06] 关于做好污染地块环境修复与开发建设衔接的指导意见</a:t>
            </a:r>
          </a:p>
          <a:p>
            <a:r>
              <a:t>https://www.mee.gov.cn/xxgk2018/xxgk/xxgk03/202601/t20260121_1142344.html</a:t>
            </a:r>
          </a:p>
          <a:p>
            <a:r>
              <a:t>定位：二（一）（二）、三（四）（五）、四（六）（七）；环境修复与开发建设程序衔接指导文件</a:t>
            </a:r>
          </a:p>
          <a:p>
            <a:r>
              <a:t>[S07] 地下水管理条例（2026年修订）</a:t>
            </a:r>
          </a:p>
          <a:p>
            <a:r>
              <a:t>https://www.mee.gov.cn/zcwj/gwywj/202610/t20261009_1175922.shtml</a:t>
            </a:r>
          </a:p>
          <a:p>
            <a:r>
              <a:t>定位：第40、41、45条；防渗漏、监测井与风险评估；现行行政法规</a:t>
            </a:r>
          </a:p>
          <a:p>
            <a:r>
              <a:t>[S11] 土壤环境质量 建设用地土壤污染风险管控标准（试行）（GB 36600—2018）</a:t>
            </a:r>
          </a:p>
          <a:p>
            <a:r>
              <a:t>https://www.mee.gov.cn/ywgz/fgbz/bz/bzwb/trhj/201807/t20180703_446027.shtml</a:t>
            </a:r>
          </a:p>
          <a:p>
            <a:r>
              <a:t>定位：建设用地土壤风险筛选与管制；不等同固废产品合规判定；建设用地土壤风险管控国家标准</a:t>
            </a:r>
          </a:p>
          <a:p>
            <a:r>
              <a:t>[S12] 关于发布《建设用地土壤污染状况调查技术导则》等5项国家环境保护标准的公告</a:t>
            </a:r>
          </a:p>
          <a:p>
            <a:r>
              <a:t>https://www.mee.gov.cn/xxgk2018/xxgk/xxgk01/201912/t20191209_748356.html</a:t>
            </a:r>
          </a:p>
          <a:p>
            <a:r>
              <a:t>定位：HJ 25.1—2019、HJ 25.2—2019、HJ 25.3—2019、HJ 25.4—2019；公告另含HJ 682—2019；调查、风险评估、修复及监测技术标准</a:t>
            </a:r>
          </a:p>
          <a:p>
            <a:r>
              <a:t>[S13] 污染地块风险管控与土壤修复效果评估技术导则（HJ 25.5—2018）</a:t>
            </a:r>
          </a:p>
          <a:p>
            <a:r>
              <a:t>https://www.mee.gov.cn/ywgz/fgbz/bz/bzwb/trhj/201901/t20190107_688646.shtml</a:t>
            </a:r>
          </a:p>
          <a:p>
            <a:r>
              <a:t>定位：适用范围；污染地块风险管控与修复效果评估；技术标准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四类瓶颈风险必须有停工与恢复条件</a:t>
            </a:r>
          </a:p>
          <a:p/>
          <a:p>
            <a:r>
              <a:t>库存阈值按实际合法暂存能力和材料性质、合同、规定核定，不凭固定储存天数放大堆场。</a:t>
            </a:r>
          </a:p>
          <a:p/>
          <a:p>
            <a:r>
              <a:t>依据：S02 S03 S09 C05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  <a:p>
            <a:r>
              <a:t>[C05] 辽宁省营口市生活垃圾污染问题整改不力 浮于表面</a:t>
            </a:r>
          </a:p>
          <a:p>
            <a:r>
              <a:t>https://www.mee.gov.cn/xxgk2018/xxgk/xxgk15/201905/t20190515_703047.html</a:t>
            </a:r>
          </a:p>
          <a:p>
            <a:r>
              <a:t>定位：存在问题：最终处置出口不足、筛分发酵设施不能正常运行、垃圾多处周转；监管反面案例；不属于成功竣工或成本标杆，避免异地迁移代替最终治理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预算按工作包核量核价，避免重复计费</a:t>
            </a:r>
          </a:p>
          <a:p/>
          <a:p>
            <a:r>
              <a:t>完整13项工作包、计量单位和支付依据列于Word第6.2节及核算表。尚无主体报价，不给未经实证的总投资。</a:t>
            </a:r>
          </a:p>
          <a:p/>
          <a:p>
            <a:r>
              <a:t>依据：B01 S02 S03 S04 S09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[S04] 国务院关于印发《固体废物综合治理行动计划》的通知（国发〔2025〕14号）</a:t>
            </a:r>
          </a:p>
          <a:p>
            <a:r>
              <a:t>https://www.mee.gov.cn/zcwj/gwywj/202601/t20260105_1139840.shtml</a:t>
            </a:r>
          </a:p>
          <a:p>
            <a:r>
              <a:t>定位：（十三）、（二十三）、（二十五）；一场一策与停用填埋场封场治理；国家政策文件；2027年节点不等于全量开挖要求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现有量价折算：713.6万元/年</a:t>
            </a:r>
          </a:p>
          <a:p/>
          <a:p>
            <a:r>
              <a:t>年度准确值713.575万元；浓液、监测是否含在原服务价先核合同，不另行重复加价。体积敏感度没有确定总投资含义。</a:t>
            </a:r>
          </a:p>
          <a:p/>
          <a:p>
            <a:r>
              <a:t>依据：B01 B02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[B02] 《大岭山旧飞鹅垃圾填埋场背景资料》</a:t>
            </a:r>
          </a:p>
          <a:p/>
          <a:p>
            <a:r>
              <a:t>定位：存量垃圾170万m³，与B01的250万m³口径存在差异；仅用于识别场地基础数据差异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仅靠现有处理费避支，财务回收有明确上限</a:t>
            </a:r>
          </a:p>
          <a:p/>
          <a:p>
            <a:r>
              <a:t>准确10年7135.75万元，20年14271.5万元。原水连续两年符合S02条件前不能停必要设施；因此实际节省通常更低。没有质量、批准和交易依据的土地、产业、碳及材料收入不列已确认现金流。</a:t>
            </a:r>
          </a:p>
          <a:p/>
          <a:p>
            <a:r>
              <a:t>依据：B01 S02 S04 S06 S09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[S04] 国务院关于印发《固体废物综合治理行动计划》的通知（国发〔2025〕14号）</a:t>
            </a:r>
          </a:p>
          <a:p>
            <a:r>
              <a:t>https://www.mee.gov.cn/zcwj/gwywj/202601/t20260105_1139840.shtml</a:t>
            </a:r>
          </a:p>
          <a:p>
            <a:r>
              <a:t>定位：（十三）、（二十三）、（二十五）；一场一策与停用填埋场封场治理；国家政策文件；2027年节点不等于全量开挖要求</a:t>
            </a:r>
          </a:p>
          <a:p>
            <a:r>
              <a:t>[S06] 关于做好污染地块环境修复与开发建设衔接的指导意见</a:t>
            </a:r>
          </a:p>
          <a:p>
            <a:r>
              <a:t>https://www.mee.gov.cn/xxgk2018/xxgk/xxgk03/202601/t20260121_1142344.html</a:t>
            </a:r>
          </a:p>
          <a:p>
            <a:r>
              <a:t>定位：二（一）（二）、三（四）（五）、四（六）（七）；环境修复与开发建设程序衔接指导文件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公共效益按实物与监测核验</a:t>
            </a:r>
          </a:p>
          <a:p/>
          <a:p>
            <a:r>
              <a:t>政治和政策落实效益体现在依法治理、资金和责任清晰及风险结果可验证，不写不可核验宏观承诺。</a:t>
            </a:r>
          </a:p>
          <a:p/>
          <a:p>
            <a:r>
              <a:t>依据：S01 S02 S03 S04 S05 S06 S09 S10 S13</a:t>
            </a:r>
          </a:p>
          <a:p>
            <a:r>
              <a:t>[S01] 中华人民共和国生态环境法典</a:t>
            </a:r>
          </a:p>
          <a:p>
            <a:r>
              <a:t>https://www.mee.gov.cn/ywgz/fgbz/fl/202603/t20260313_1146496.shtml</a:t>
            </a:r>
          </a:p>
          <a:p>
            <a:r>
              <a:t>定位：第511—513条、第1242条；环境影响评价、土壤污染风险管控和修复相关章节；现行法律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[S04] 国务院关于印发《固体废物综合治理行动计划》的通知（国发〔2025〕14号）</a:t>
            </a:r>
          </a:p>
          <a:p>
            <a:r>
              <a:t>https://www.mee.gov.cn/zcwj/gwywj/202601/t20260105_1139840.shtml</a:t>
            </a:r>
          </a:p>
          <a:p>
            <a:r>
              <a:t>定位：（十三）、（二十三）、（二十五）；一场一策与停用填埋场封场治理；国家政策文件；2027年节点不等于全量开挖要求</a:t>
            </a:r>
          </a:p>
          <a:p>
            <a:r>
              <a:t>[S05] 固体废物污染防治“十五五”规划</a:t>
            </a:r>
          </a:p>
          <a:p>
            <a:r>
              <a:t>https://www.mee.gov.cn/xxgk2018/xxgk/xxgk03/202607/t20260714_1161736.html</a:t>
            </a:r>
          </a:p>
          <a:p>
            <a:r>
              <a:t>定位：二（四）；生活垃圾填埋场隐患台账、高风险综合治理、积存渗滤液与渗漏治理；国家专项规划</a:t>
            </a:r>
          </a:p>
          <a:p>
            <a:r>
              <a:t>[S06] 关于做好污染地块环境修复与开发建设衔接的指导意见</a:t>
            </a:r>
          </a:p>
          <a:p>
            <a:r>
              <a:t>https://www.mee.gov.cn/xxgk2018/xxgk/xxgk03/202601/t20260121_1142344.html</a:t>
            </a:r>
          </a:p>
          <a:p>
            <a:r>
              <a:t>定位：二（一）（二）、三（四）（五）、四（六）（七）；环境修复与开发建设程序衔接指导文件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  <a:p>
            <a:r>
              <a:t>[S10] 建筑施工噪声排放标准（GB 12523—2025）</a:t>
            </a:r>
          </a:p>
          <a:p>
            <a:r>
              <a:t>https://www.mee.gov.cn/ywgz/fgbz/bz/bzwb/wlhj/hjzspfbz/202512/t20251211_1137517.shtml</a:t>
            </a:r>
          </a:p>
          <a:p>
            <a:r>
              <a:t>定位：4.1—4.4、表1；昼70、夜55 dB(A)，特殊测点评价按条款；现行强制性国家标准；替代2011版</a:t>
            </a:r>
          </a:p>
          <a:p>
            <a:r>
              <a:t>[S13] 污染地块风险管控与土壤修复效果评估技术导则（HJ 25.5—2018）</a:t>
            </a:r>
          </a:p>
          <a:p>
            <a:r>
              <a:t>https://www.mee.gov.cn/ywgz/fgbz/bz/bzwb/trhj/201901/t20190107_688646.shtml</a:t>
            </a:r>
          </a:p>
          <a:p>
            <a:r>
              <a:t>定位：适用范围；污染地块风险管控与修复效果评估；技术标准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一个业主统筹，治理和开发各自核算</a:t>
            </a:r>
          </a:p>
          <a:p/>
          <a:p>
            <a:r>
              <a:t>本报告未虚设乙方公司名称、资质和未签合同。政府公共治理资金与污染者承担费用依法核定。</a:t>
            </a:r>
          </a:p>
          <a:p/>
          <a:p>
            <a:r>
              <a:t>依据：S02 S04 S06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[S04] 国务院关于印发《固体废物综合治理行动计划》的通知（国发〔2025〕14号）</a:t>
            </a:r>
          </a:p>
          <a:p>
            <a:r>
              <a:t>https://www.mee.gov.cn/zcwj/gwywj/202601/t20260105_1139840.shtml</a:t>
            </a:r>
          </a:p>
          <a:p>
            <a:r>
              <a:t>定位：（十三）、（二十三）、（二十五）；一场一策与停用填埋场封场治理；国家政策文件；2027年节点不等于全量开挖要求</a:t>
            </a:r>
          </a:p>
          <a:p>
            <a:r>
              <a:t>[S06] 关于做好污染地块环境修复与开发建设衔接的指导意见</a:t>
            </a:r>
          </a:p>
          <a:p>
            <a:r>
              <a:t>https://www.mee.gov.cn/xxgk2018/xxgk/xxgk03/202601/t20260121_1142344.html</a:t>
            </a:r>
          </a:p>
          <a:p>
            <a:r>
              <a:t>定位：二（一）（二）、三（四）（五）、四（六）（七）；环境修复与开发建设程序衔接指导文件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前180天取得实证与条件，主体工期另核</a:t>
            </a:r>
          </a:p>
          <a:p/>
          <a:p>
            <a:r>
              <a:t>有效天数≥实测质量/瓶颈持续日量。瓶颈含开挖、筛分、各接收日量与水气稳定约束。日历工期另计雨停、检测及修复等；不套用阿苏卫设计能力。</a:t>
            </a:r>
          </a:p>
          <a:p/>
          <a:p>
            <a:r>
              <a:t>依据：B01 S02 S03 C02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[C02] 北京华源惠众环保科技有限公司（环保设施向公众开放资料）</a:t>
            </a:r>
          </a:p>
          <a:p>
            <a:r>
              <a:t>https://www.mee.gov.cn/home/ztbd/rdzl/sskf/kfss/bjs/dsipbj/202103/t20210309_823930.shtml</a:t>
            </a:r>
          </a:p>
          <a:p>
            <a:r>
              <a:t>定位：阿苏卫园区陈腐垃圾筛分3000 t/d、焚烧3000 t/d、渗滤液850 t/d；设施设计配置；不代表实际处理量或完成量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当前宜决定启动运行衔接与前期实证</a:t>
            </a:r>
          </a:p>
          <a:p/>
          <a:p>
            <a:r>
              <a:t>调查见Word第5章及7.4节；资金与投入产出见第6章。</a:t>
            </a:r>
          </a:p>
          <a:p/>
          <a:p>
            <a:r>
              <a:t>依据：B01 S02 S03 S04 S05 S07 S09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[S04] 国务院关于印发《固体废物综合治理行动计划》的通知（国发〔2025〕14号）</a:t>
            </a:r>
          </a:p>
          <a:p>
            <a:r>
              <a:t>https://www.mee.gov.cn/zcwj/gwywj/202601/t20260105_1139840.shtml</a:t>
            </a:r>
          </a:p>
          <a:p>
            <a:r>
              <a:t>定位：（十三）、（二十三）、（二十五）；一场一策与停用填埋场封场治理；国家政策文件；2027年节点不等于全量开挖要求</a:t>
            </a:r>
          </a:p>
          <a:p>
            <a:r>
              <a:t>[S05] 固体废物污染防治“十五五”规划</a:t>
            </a:r>
          </a:p>
          <a:p>
            <a:r>
              <a:t>https://www.mee.gov.cn/xxgk2018/xxgk/xxgk03/202607/t20260714_1161736.html</a:t>
            </a:r>
          </a:p>
          <a:p>
            <a:r>
              <a:t>定位：二（四）；生活垃圾填埋场隐患台账、高风险综合治理、积存渗滤液与渗漏治理；国家专项规划</a:t>
            </a:r>
          </a:p>
          <a:p>
            <a:r>
              <a:t>[S07] 地下水管理条例（2026年修订）</a:t>
            </a:r>
          </a:p>
          <a:p>
            <a:r>
              <a:t>https://www.mee.gov.cn/zcwj/gwywj/202610/t20261009_1175922.shtml</a:t>
            </a:r>
          </a:p>
          <a:p>
            <a:r>
              <a:t>定位：第40、41、45条；防渗漏、监测井与风险评估；现行行政法规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20项来源支撑同一套数据和结论</a:t>
            </a:r>
          </a:p>
          <a:p/>
          <a:p>
            <a:r>
              <a:t>公开资料于2026-10-10至11检索核验；具体发布时间、施行日期、状态及定位如下。</a:t>
            </a:r>
          </a:p>
          <a:p/>
          <a:p>
            <a:r>
              <a:t>依据：B01 B02 S01 S02 S03 S04 S05 S06 S07 S08 S09 S10 S11 S12 S13 C01 C02 C03 C04 C05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[B02] 《大岭山旧飞鹅垃圾填埋场背景资料》</a:t>
            </a:r>
          </a:p>
          <a:p/>
          <a:p>
            <a:r>
              <a:t>定位：存量垃圾170万m³，与B01的250万m³口径存在差异；仅用于识别场地基础数据差异</a:t>
            </a:r>
          </a:p>
          <a:p>
            <a:r>
              <a:t>[S01] 中华人民共和国生态环境法典</a:t>
            </a:r>
          </a:p>
          <a:p>
            <a:r>
              <a:t>https://www.mee.gov.cn/ywgz/fgbz/fl/202603/t20260313_1146496.shtml</a:t>
            </a:r>
          </a:p>
          <a:p>
            <a:r>
              <a:t>定位：第511—513条、第1242条；环境影响评价、土壤污染风险管控和修复相关章节；现行法律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[S04] 国务院关于印发《固体废物综合治理行动计划》的通知（国发〔2025〕14号）</a:t>
            </a:r>
          </a:p>
          <a:p>
            <a:r>
              <a:t>https://www.mee.gov.cn/zcwj/gwywj/202601/t20260105_1139840.shtml</a:t>
            </a:r>
          </a:p>
          <a:p>
            <a:r>
              <a:t>定位：（十三）、（二十三）、（二十五）；一场一策与停用填埋场封场治理；国家政策文件；2027年节点不等于全量开挖要求</a:t>
            </a:r>
          </a:p>
          <a:p>
            <a:r>
              <a:t>[S05] 固体废物污染防治“十五五”规划</a:t>
            </a:r>
          </a:p>
          <a:p>
            <a:r>
              <a:t>https://www.mee.gov.cn/xxgk2018/xxgk/xxgk03/202607/t20260714_1161736.html</a:t>
            </a:r>
          </a:p>
          <a:p>
            <a:r>
              <a:t>定位：二（四）；生活垃圾填埋场隐患台账、高风险综合治理、积存渗滤液与渗漏治理；国家专项规划</a:t>
            </a:r>
          </a:p>
          <a:p>
            <a:r>
              <a:t>[S06] 关于做好污染地块环境修复与开发建设衔接的指导意见</a:t>
            </a:r>
          </a:p>
          <a:p>
            <a:r>
              <a:t>https://www.mee.gov.cn/xxgk2018/xxgk/xxgk03/202601/t20260121_1142344.html</a:t>
            </a:r>
          </a:p>
          <a:p>
            <a:r>
              <a:t>定位：二（一）（二）、三（四）（五）、四（六）（七）；环境修复与开发建设程序衔接指导文件</a:t>
            </a:r>
          </a:p>
          <a:p>
            <a:r>
              <a:t>[S07] 地下水管理条例（2026年修订）</a:t>
            </a:r>
          </a:p>
          <a:p>
            <a:r>
              <a:t>https://www.mee.gov.cn/zcwj/gwywj/202610/t20261009_1175922.shtml</a:t>
            </a:r>
          </a:p>
          <a:p>
            <a:r>
              <a:t>定位：第40、41、45条；防渗漏、监测井与风险评估；现行行政法规</a:t>
            </a:r>
          </a:p>
          <a:p>
            <a:r>
              <a:t>[S08] 城镇排水与污水处理条例（2026年修订）</a:t>
            </a:r>
          </a:p>
          <a:p>
            <a:r>
              <a:t>https://www.mee.gov.cn/zcwj/gwywj/202610/t20261009_1175944.shtml</a:t>
            </a:r>
          </a:p>
          <a:p>
            <a:r>
              <a:t>定位：排水许可、排水水质及接管监管相关条款；现行行政法规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  <a:p>
            <a:r>
              <a:t>[S10] 建筑施工噪声排放标准（GB 12523—2025）</a:t>
            </a:r>
          </a:p>
          <a:p>
            <a:r>
              <a:t>https://www.mee.gov.cn/ywgz/fgbz/bz/bzwb/wlhj/hjzspfbz/202512/t20251211_1137517.shtml</a:t>
            </a:r>
          </a:p>
          <a:p>
            <a:r>
              <a:t>定位：4.1—4.4、表1；昼70、夜55 dB(A)，特殊测点评价按条款；现行强制性国家标准；替代2011版</a:t>
            </a:r>
          </a:p>
          <a:p>
            <a:r>
              <a:t>[S11] 土壤环境质量 建设用地土壤污染风险管控标准（试行）（GB 36600—2018）</a:t>
            </a:r>
          </a:p>
          <a:p>
            <a:r>
              <a:t>https://www.mee.gov.cn/ywgz/fgbz/bz/bzwb/trhj/201807/t20180703_446027.shtml</a:t>
            </a:r>
          </a:p>
          <a:p>
            <a:r>
              <a:t>定位：建设用地土壤风险筛选与管制；不等同固废产品合规判定；建设用地土壤风险管控国家标准</a:t>
            </a:r>
          </a:p>
          <a:p>
            <a:r>
              <a:t>[S12] 关于发布《建设用地土壤污染状况调查技术导则》等5项国家环境保护标准的公告</a:t>
            </a:r>
          </a:p>
          <a:p>
            <a:r>
              <a:t>https://www.mee.gov.cn/xxgk2018/xxgk/xxgk01/201912/t20191209_748356.html</a:t>
            </a:r>
          </a:p>
          <a:p>
            <a:r>
              <a:t>定位：HJ 25.1—2019、HJ 25.2—2019、HJ 25.3—2019、HJ 25.4—2019；公告另含HJ 682—2019；调查、风险评估、修复及监测技术标准</a:t>
            </a:r>
          </a:p>
          <a:p>
            <a:r>
              <a:t>[S13] 污染地块风险管控与土壤修复效果评估技术导则（HJ 25.5—2018）</a:t>
            </a:r>
          </a:p>
          <a:p>
            <a:r>
              <a:t>https://www.mee.gov.cn/ywgz/fgbz/bz/bzwb/trhj/201901/t20190107_688646.shtml</a:t>
            </a:r>
          </a:p>
          <a:p>
            <a:r>
              <a:t>定位：适用范围；污染地块风险管控与修复效果评估；技术标准</a:t>
            </a:r>
          </a:p>
          <a:p>
            <a:r>
              <a:t>[C01] 深圳市下坪环境园调研组赴海南、江西已封场简易填埋场调研学习</a:t>
            </a:r>
          </a:p>
          <a:p>
            <a:r>
              <a:t>https://cgj.sz.gov.cn/zwgk/gzdt/content/post_10610768.html</a:t>
            </a:r>
          </a:p>
          <a:p>
            <a:r>
              <a:t>定位：三亚、海口颜春岭、江西吉安泰和；实地考察开挖作业现场、筛分处置流程和工期管理；官方现场调研记录；未公布投资、工程量、完成率或收益</a:t>
            </a:r>
          </a:p>
          <a:p>
            <a:r>
              <a:t>[C02] 北京华源惠众环保科技有限公司（环保设施向公众开放资料）</a:t>
            </a:r>
          </a:p>
          <a:p>
            <a:r>
              <a:t>https://www.mee.gov.cn/home/ztbd/rdzl/sskf/kfss/bjs/dsipbj/202103/t20210309_823930.shtml</a:t>
            </a:r>
          </a:p>
          <a:p>
            <a:r>
              <a:t>定位：阿苏卫园区陈腐垃圾筛分3000 t/d、焚烧3000 t/d、渗滤液850 t/d；设施设计配置；不代表实际处理量或完成量</a:t>
            </a:r>
          </a:p>
          <a:p>
            <a:r>
              <a:t>[C03] 广东省住房和城乡建设厅科技创新计划项目《垃圾填埋场渗滤液膜浓液处理技术研究》顺利通过验收</a:t>
            </a:r>
          </a:p>
          <a:p>
            <a:r>
              <a:t>https://cgj.sz.gov.cn/zwgk/gzdt/content/post_12691232.html</a:t>
            </a:r>
          </a:p>
          <a:p>
            <a:r>
              <a:t>定位：2026-03-12科研验收；高效物化沉淀+强化生化处理+PS高级氧化组合中试；科研中试通过验收；不是全规模工程绩效或报价</a:t>
            </a:r>
          </a:p>
          <a:p>
            <a:r>
              <a:t>[C04] 开展鸭湖填埋场地下水监测检查及地方规范宣贯的工作信息</a:t>
            </a:r>
          </a:p>
          <a:p>
            <a:r>
              <a:t>https://cgj.sz.gov.cn/zwgk/gzdt/content/post_11472014.html</a:t>
            </a:r>
          </a:p>
          <a:p>
            <a:r>
              <a:t>定位：深圳《已封场生活垃圾填埋场维护规范》《生活垃圾填埋场搬迁技术规范》2024-07-01生效；用于说明地方监管实践；未引用未取得全文的具体参数</a:t>
            </a:r>
          </a:p>
          <a:p>
            <a:r>
              <a:t>[C05] 辽宁省营口市生活垃圾污染问题整改不力 浮于表面</a:t>
            </a:r>
          </a:p>
          <a:p>
            <a:r>
              <a:t>https://www.mee.gov.cn/xxgk2018/xxgk/xxgk15/201905/t20190515_703047.html</a:t>
            </a:r>
          </a:p>
          <a:p>
            <a:r>
              <a:t>定位：存在问题：最终处置出口不足、筛分发酵设施不能正常运行、垃圾多处周转；监管反面案例；不属于成功竣工或成本标杆，避免异地迁移代替最终治理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417320"/>
            <a:ext cx="11000232" cy="2423160"/>
          </a:xfrm>
          <a:prstGeom prst="rect">
            <a:avLst/>
          </a:prstGeom>
          <a:solidFill>
            <a:srgbClr val="174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1417320"/>
            <a:ext cx="91440" cy="2423160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大岭山镇旧飞鹅生活垃圾填埋场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32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综合治理可行性研究报告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与实施方案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332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保障持续治理，有序移除存量源，衔接场底修复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56632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镇领导专题汇报　｜　乙方技术研究报告 · 前期研究阶段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7842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2026年10月11日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00800"/>
            <a:ext cx="11000232" cy="0"/>
          </a:xfrm>
          <a:prstGeom prst="line">
            <a:avLst/>
          </a:prstGeom>
          <a:ln w="1270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49224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场地资料仅提供基本情况；技术、政策及案例依据列于页脚和备注。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核心判断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建议启动以分区开挖为主的综合治理前期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B01；S02第8.7—8.8条；S03第4—8章；C01—C02。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02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947672"/>
          <a:ext cx="11000231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46"/>
                <a:gridCol w="8800185"/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判断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建议及条件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急迫任务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合同到期前衔接运维与接收；立即开展污染现状、风险及稳定调查。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开挖必要性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移除堆体、核查修复原场底的目标下，单纯维护不能完成实物任务。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技术可行性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全国有开挖分选实践；本场经示范验证水气、组分、稳定和末端能力。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投资与实施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前期先实证；主体投资及工期按工程量、真实去向与报价审批核定。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近期维护保障与主体开挖准备并行，开挖范围随调查、示范和审批确定。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汇报逻辑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七项内容形成完整论证与实施链条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与Word七章同步；项目组织结构。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03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场地与问题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01 基本情况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02 现状问题与急迫任务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03 方案比选与必要性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政策与工程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04 官方文件及全国案例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05 调查、开挖及污染防治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    场底修复与效果评估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核算与计划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06 投入产出、资金与效益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07 顶层设计、周期与任务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    近期启动前期实证工作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从已有资料到实测证据，再到工程量、合法末端和可审核投资。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01｜基本情况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既有封场成果应保留，存量口径须统一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B01第1—3页；B02垃圾存量。资料记载验收，原件待核。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04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920240"/>
          <a:ext cx="1100023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41"/>
                <a:gridCol w="4400092"/>
                <a:gridCol w="4620097"/>
              </a:tblGrid>
              <a:tr h="69494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事项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基础资料记载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本工程边界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使用与封场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1996年启用；2019年7月封场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保留覆盖、导排和处理的有效成果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验收与面积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2019年12月销号；106845平方米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约10.68公顷，不等于净开发面积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存量垃圾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170万与250万立方米口径差异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测绘基底、分区体积及实测湿密度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历史费用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封场约1261万元，含前期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不能替代本次开挖投资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01｜基本情况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现有处理持续承压，开挖新增负荷先核算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B01第2—3页；170÷180为算术量比，非实测可用余量。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05 /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170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吨/日 · 资料平均处理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18104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封场后仍持续产生处理负荷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2011680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180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27432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吨/日 · 常规名义规模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3118104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300吨/日为应急规模，不相加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2011680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27432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吨/日 · 膜浓缩液外运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3118104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单列去向、计量及备用接收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160520"/>
            <a:ext cx="10652760" cy="1143000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361688"/>
            <a:ext cx="1014984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调节池资料容积3万m³：须实测库存和可用调蓄空间。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新增抽排、沥水和洗车水按峰值、水质、停机及浓缩液共同核算。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02｜问题识别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六项信息缺口直接决定工程安全与投资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B01—B02；S02第7.8—7.10条；S03第4章；S09。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06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856231"/>
          <a:ext cx="11000231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0067"/>
                <a:gridCol w="7810164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需查明事项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对应风险与工程动作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内部液位、排水及防渗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查明是否积液、衬层缺陷；设计降水位与控制措施。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2026年4月后原始监测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核当前土壤地下水及受体，不以资料结论代替基线。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垃圾体积、密度及组分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统一工程量、运输、设施和预算口径。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堆体与基底稳定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分开挖工况验算，确定单元、边坡和现场交通。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现有处理可用能力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核水量水质、停机及浓液去向，确定新增承载。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全部筛分产物最终去向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试接收、日量及备用落实后，才能持续放大。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02｜急迫性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距现有合同记载到期日81天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B01合同至2026-12-31；报告日2026-10-11；日期差与量价计算。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07 /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02536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340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天 · 日期差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运行与接收衔接先于主体施工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02536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13770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340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吨 · 81天负荷折算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10896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170吨/日×81天，非实际计量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2002536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158.4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27340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万元 · 服务费用折算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310896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按115元/吨；结算依原合同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005072"/>
            <a:ext cx="3611880" cy="1581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05072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005072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6052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2456" y="4178808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先保障连续运行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4901183"/>
            <a:ext cx="3172968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衔接服务、合法接收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备用与交接责任明确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4005072"/>
            <a:ext cx="3611880" cy="1581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4005072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4005072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16052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2936" y="4178808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同步污染风险调查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4901183"/>
            <a:ext cx="3172968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气液、液位与稳定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土壤地下水及敏感受体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20" y="4005072"/>
            <a:ext cx="3611880" cy="1581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75320" y="4005072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20" y="4005072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416052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3416" y="4178808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异常即时处置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94776" y="4901183"/>
            <a:ext cx="3172968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外溢、渗漏、气体异常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有证据的问题优先控制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03｜方案比选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三条路线比较：维护先行，开挖为主体方向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乙方基于S02、S03、S06进行机制比较，不赋予无数据评分。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08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883664"/>
          <a:ext cx="11000231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053"/>
                <a:gridCol w="3520074"/>
                <a:gridCol w="4950104"/>
              </a:tblGrid>
              <a:tr h="9509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路线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优点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局限与本场判断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A 强化维护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扰动小，快速保障水气治理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保留源区和持续费用；作为近期保障与比较基准。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B 重点源区开挖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局部先行，工程范围较小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剩余堆体继续维护；需调查证明，可分期衔接。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C 分区开挖综合治理</a:t>
                      </a:r>
                    </a:p>
                  </a:txBody>
                  <a:tcPr marL="109728" marR="91440" marT="73152" marB="36576" anchor="ctr"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移除核定存量源，接续场底修复</a:t>
                      </a:r>
                    </a:p>
                  </a:txBody>
                  <a:tcPr marL="109728" marR="91440" marT="73152" marB="36576" anchor="ctr">
                    <a:solidFill>
                      <a:srgbClr val="EA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施工风险、投资及末端要求增加；推荐主体研究。</a:t>
                      </a:r>
                    </a:p>
                  </a:txBody>
                  <a:tcPr marL="109728" marR="91440" marT="73152" marB="36576" anchor="ctr">
                    <a:solidFill>
                      <a:srgbClr val="EAF2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调查可支持重点区先行；最终范围和节奏由风险、治理目标与实证决定。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03｜必要性论证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开挖必要性落实到三个具体任务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B01；S02第8.7—8.8条；S03第6.3.8条；S06；S12—S13。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09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移除经核定存量源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覆膜和处理管理持续水气，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堆体本身仍在。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移除实物任务需要开挖、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分选与合法处置。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暴露并治理原场底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形成可采样、可施工、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可验证的场底工作面。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分区清挖与调查修复衔接，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残留污染按实测治理。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满足安全利用条件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核污染、沉降、气体与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地下水限制。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不以地表平整代替效果评估，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后续用途另依法审查。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必要性对应本项目治理目标，开挖并不自动保证费用终止或可开发。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04｜官方依据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政策支持一场一策，标准约束全过程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S01—S13；本次取得开挖指南为2025年征求意见稿。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10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883664"/>
          <a:ext cx="11000231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0088"/>
                <a:gridCol w="6820143"/>
              </a:tblGrid>
              <a:tr h="6126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依据层次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本项目重点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生态环境法典及行政法规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固废合法去向、设施监管、地下水防渗和排水许可。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GB 16889—2024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液位与稳定、衬层检测、维护终止及后续利用。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GB 34330—2025；GB 12523—2025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现行固废鉴别、施工噪声；替代2017版、2011版。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国家行动计划及“十五五”规划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一场一策、隐患台账、积存渗滤液和渗漏治理。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开挖指南征求意见稿；HJ 25系列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技术参考与调查评估、修复效果路径；草案非强制标准。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2027年节点针对符合条件的停用场封场治理，不是全量开挖统一期限。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04｜开挖实践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全国现场记录支持路线，案例成本不能套用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C01：深圳城管局2023-05-24官方现场调研记录。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11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海南三亚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官方记录赴三亚调研。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实地考察开挖作业现场、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筛分处置及工期管理。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记录未明确具体场名。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海口颜春岭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官方记录明确颜春岭。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结合已封场场地开挖、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筛分流程与管理经验。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不据此声称已全部竣工。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江西吉安泰和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官方记录赴泰和调研。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支持先分区开挖、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分类处置与工期协同。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本场仍需代表性试验。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公开记录未公布完整投资、工程量、完成率及收益，不能推导本场单价。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04｜设施配置与反面案例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成套能力与最终出口是关键经验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C02生态环境部公众开放资料；C05中央环保督察公开信息。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12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947672"/>
            <a:ext cx="5394960" cy="3355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947672"/>
            <a:ext cx="53949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47672"/>
            <a:ext cx="53949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497433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阿苏卫：筛分与末端配套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843784"/>
            <a:ext cx="4956048" cy="2386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设计配置：陈腐垃圾筛分3000吨/日，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焚烧3000吨/日、渗滤液850吨/日。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提示本场配置水、气、分选与末端。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这些是设计规模，不是本场产能、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实际处理量或成本依据。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1947672"/>
            <a:ext cx="5394960" cy="3355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1947672"/>
            <a:ext cx="5394960" cy="67665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1947672"/>
            <a:ext cx="5394960" cy="41148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121408"/>
            <a:ext cx="497433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营口：不能以周转替代治理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843784"/>
            <a:ext cx="4956048" cy="2386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督察指出最终出口不足、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筛分发酵设施运行困难、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垃圾多处周转。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本场全部产物需先落实最终去向；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拒收与库存异常时停止新增开挖。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05｜实施主线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全过程闭环：控制设施先于污染暴露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S02第7—9章；S03第4—8章；S06；乙方实施方案。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13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103120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276856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调查与诊断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999232"/>
            <a:ext cx="2212848" cy="2048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存量、组分、气液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液位、防渗、稳定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土壤地下水与受体</a:t>
            </a:r>
          </a:p>
        </p:txBody>
      </p:sp>
      <p:sp>
        <p:nvSpPr>
          <p:cNvPr id="16" name="Chevron 15"/>
          <p:cNvSpPr/>
          <p:nvPr/>
        </p:nvSpPr>
        <p:spPr>
          <a:xfrm>
            <a:off x="3310128" y="3364991"/>
            <a:ext cx="118872" cy="219456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2103120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85032" y="227685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预处理与控制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2999232"/>
            <a:ext cx="2212848" cy="2048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抽排、气体处理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防渗暂存与集气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清污分流及备用</a:t>
            </a:r>
          </a:p>
        </p:txBody>
      </p:sp>
      <p:sp>
        <p:nvSpPr>
          <p:cNvPr id="22" name="Chevron 21"/>
          <p:cNvSpPr/>
          <p:nvPr/>
        </p:nvSpPr>
        <p:spPr>
          <a:xfrm>
            <a:off x="6190488" y="3364991"/>
            <a:ext cx="118872" cy="219456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2103120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227685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开挖与筛分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4536" y="2999232"/>
            <a:ext cx="2212848" cy="2048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分区分层、日终覆盖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沥水后适配分选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计量、检测和库存</a:t>
            </a:r>
          </a:p>
        </p:txBody>
      </p:sp>
      <p:sp>
        <p:nvSpPr>
          <p:cNvPr id="28" name="Chevron 27"/>
          <p:cNvSpPr/>
          <p:nvPr/>
        </p:nvSpPr>
        <p:spPr>
          <a:xfrm>
            <a:off x="9070848" y="3364991"/>
            <a:ext cx="118872" cy="219456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2103120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45752" y="227685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分类利用处置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4896" y="2999232"/>
            <a:ext cx="2212848" cy="2048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全部产物合法接收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运输与回执闭合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异常批次隔离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场底调查修复 → 效果评估 → 后期管理 → 依法履行后续利用程序。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05｜治理前调查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调查形成同一工程边界、风险基线与量价输入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S02第7.8—7.10条；S03第4章；S07；S11—S13。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14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901952"/>
          <a:ext cx="11000231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0064"/>
                <a:gridCol w="7920167"/>
              </a:tblGrid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调查模块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成果用于设计及预算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档案、测绘与组分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边界、基底、分区体积、湿密度和批次组分。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气液与运行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气体分布、内部液位、水质、浓液、峰值及可用能力。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衬层和岩土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结构与缺陷、地下水位、分工况稳定及支护。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土壤地下水与受体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基线、流场、污染源途径受体和风险；异常先控制。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末端与价格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试接收、质量、持续日量、距离、备用及实际报价。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05｜示范与决策条件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示范验证后放大，时间届满不等于放行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S03第4—6章；乙方示范管理方案。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15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代表性与试验边界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选择不同深度、含水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和组分的代表性单元。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必要程序和控制设施先行，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不得借示范规避审批。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必须取得的实测数据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湿质量、产率与含水；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产水、气体及处理负荷；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持续开挖与分选能力；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试接收、成本和库存。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进入规模施工的条件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风险、稳定及气液可控；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全部产物和备用去向落实；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工程量、报价、资金闭合；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批准方案与设施具备。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不能用假设湿密度、外地设备规模或未经验证的细料利用率决定总量。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05｜开挖作业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分区分层开挖，液位与原衬层同步控制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S03第6.2、6.3章：征求意见稿参数；最终执行批准设计。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16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920240"/>
          <a:ext cx="11000231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051"/>
                <a:gridCol w="8580180"/>
              </a:tblGrid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控制对象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技术参考与本场措施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气体预处理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井内甲烷＜5%、停抽注24小时后检测等仅为草案工艺判据。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预处理周期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草案建议不少于12天，实际依气体与含水判定，不按天数自动放行。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分层与液位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草案层厚≤5m；单元底面以下1—2m降水位；稳定验算先行。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衬层及异常物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距人工衬层约1m改保护性作业；异常或疑似危废隔离。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日常恢复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日终覆膜、清污分流、密闭沥水与分选，限制暴露和库存。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5%预处理判据和1%环境加密监测值均不能用作人员安全入场阈值。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05｜水污染防治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水系统分流，新增污染水与浓液独立闭合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B01；S02第9.2条；S03第6.1条；S08；S09。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17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103120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276856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源头分流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999232"/>
            <a:ext cx="2212848" cy="2048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场外清水截洪绕行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区内污水防渗收集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降雨与库存对应</a:t>
            </a:r>
          </a:p>
        </p:txBody>
      </p:sp>
      <p:sp>
        <p:nvSpPr>
          <p:cNvPr id="16" name="Chevron 15"/>
          <p:cNvSpPr/>
          <p:nvPr/>
        </p:nvSpPr>
        <p:spPr>
          <a:xfrm>
            <a:off x="3310128" y="3364991"/>
            <a:ext cx="118872" cy="219456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2103120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85032" y="227685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抽排与调蓄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2999232"/>
            <a:ext cx="2212848" cy="2048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堆体水位和池位分测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核3万m³池可用容积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校核峰值和停机</a:t>
            </a:r>
          </a:p>
        </p:txBody>
      </p:sp>
      <p:sp>
        <p:nvSpPr>
          <p:cNvPr id="22" name="Chevron 21"/>
          <p:cNvSpPr/>
          <p:nvPr/>
        </p:nvSpPr>
        <p:spPr>
          <a:xfrm>
            <a:off x="6190488" y="3364991"/>
            <a:ext cx="118872" cy="219456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2103120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227685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处理与产水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4536" y="2999232"/>
            <a:ext cx="2212848" cy="2048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保留有效现有工艺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水质试验决定扩建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按许可及合同接管</a:t>
            </a:r>
          </a:p>
        </p:txBody>
      </p:sp>
      <p:sp>
        <p:nvSpPr>
          <p:cNvPr id="28" name="Chevron 27"/>
          <p:cNvSpPr/>
          <p:nvPr/>
        </p:nvSpPr>
        <p:spPr>
          <a:xfrm>
            <a:off x="9070848" y="3364991"/>
            <a:ext cx="118872" cy="219456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2103120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45752" y="227685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浓缩液去向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4896" y="2999232"/>
            <a:ext cx="2212848" cy="2048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独立量质及属性核查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核准范围与余量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备用接收及回执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不能把调节池抽空当作堆体降水位，不能以浓液回灌代替最终治理。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05｜膜浓缩液方案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浓缩液先保合法接收，再比较本场技术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B01现有外运；C03深圳2026年科研中试验收；S09。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18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近期保连续外运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核属性、批准接收范围、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余量、服务和运输合同。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独立计量、库存报警，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备用接收中断预案。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候选工艺对比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深圳中试组合：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高效物化沉淀＋强化生化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＋PS高级氧化。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可纳入本场水质中试。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改变工艺前条件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需验证持续达标、污泥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与盐等残余去向、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能耗、药耗及真实成本。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科研验收不等同工程报价。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浓缩液20吨/日是资料量级，不预设全规模达标和固定吨处理成本。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05｜固体产物与运输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每类物料均有合法终点，无出路停止新增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S01第511条；S03第6.5条；S09；C05。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19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901952"/>
          <a:ext cx="11000231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055"/>
                <a:gridCol w="8360176"/>
              </a:tblGrid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物料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接收与污染控制要求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轻质可燃物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热值、水分、氯等按接收条件；核准焚烧或其他合规处置。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金属、无机惰性物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分离回收；惰性物核性能、污染、用途和真实接收工程。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筛下细料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检测＋属性＋质量＋用途＋市场；无合规利用去向则合法处置。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异常或疑似危废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隔离、鉴别，按确定属性和接收资质转移，不混入常规产物。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全部外运批次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防渗密闭车辆、出入称重、检测、接收回执；拒收和库存受控。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细料符合GB 36600风险筛选，不等于取得产品属性或可自由外运。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05｜环境与安全控制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水气、地下水、噪声与安全分层监测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S03第7章为技术参考；S10第4.1—4.4条；专项安全方案。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20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874519"/>
          <a:ext cx="11000231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055"/>
                <a:gridCol w="8360176"/>
              </a:tblGrid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类别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布点频次和触发措施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地下水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草案至少每周监测；趋势异常查源，现行许可或批准要求更严时执行。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作业面环境甲烷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草案2m高度、1—3点至少每日；＞1%加密，另设作业安全监测。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臭气与污水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密闭集气、组织与无组织监测；许可、受体和批准方案确定加密。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施工噪声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普通情形昼70、夜55 dB(A)；特殊测点依现行标准相应条款。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人员与稳定安全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持续气体检测、边坡和液位预警、隔离与救援；限值依安全专项。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AE4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环境参考值不能替代人员安全许可；异常处理与复测记录闭环。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05｜治理后措施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垃圾移除后，场底与地下水治理接续完成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S02第8.7—8.9条；S06；S07；S11—S13。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21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场底调查与修复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核残留垃圾、衬层和土壤。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依污染边界与风险设计，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不预设全场污染。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修复效果独立评估。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地下水持续控制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查源、抽提或阻隔等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按流场和机制确定。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恢复晚于清挖时，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保留设施、监测和资金。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安全利用与移交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核稳定、污染、残气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和用途限制。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维护终止满足标准条件，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再履行利用及移交程序。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已清运或已平整不能作为结束全部治理、停止必要设施的唯一依据。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05｜风险及应急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四类瓶颈风险必须有停工与恢复条件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S02第7.10条；S03第6—8章；C05；乙方控制机制。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22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920240"/>
          <a:ext cx="11000231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0067"/>
                <a:gridCol w="7810164"/>
              </a:tblGrid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风险点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应对与恢复条件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气体、稳定与高液位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撤离隔离、禁火和停止危险作业，抽排与专项纠偏后复核。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暴雨、停电及设施故障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覆膜、截排、备用供电与合法接收；不新增不可处理负荷。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产物拒收及库存超控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停止新开挖、覆盖防渗；复核质量、去向与日量后恢复。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地下水趋势异常、异物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查因控制或隔离鉴别，补充设计；监理及相应职责复核。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监测发现 → 停止新增作业 → 查因纠偏 → 复测并记录恢复条件。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06｜投入核算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预算按工作包核量核价，避免重复计费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乙方投资边界；B01仅提供既有处理服务单价，不是开挖单价。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23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前期与设施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调查、风险和稳定评估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设计、专项及适用手续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防渗场、集气和水处理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堆体预处理与备用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主体与全部末端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开挖、筛分及设备期间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各类物料检测、运输、处置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原水、浓液及异常废物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场底土壤地下水治理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评估及后期管理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监测、效果评估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残余风险与保留设施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其他费用及预备费依法计列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收入单列，缺项不按零元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工程量×对应真实报价＋依法适用费用；综合报价中的已包含项不另加。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06｜既有费用与敏感度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现有量价折算：713.6万元/年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B01：170吨/日、115元/吨；B01—B02体积差异；乙方算术。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24 /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84248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62050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157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吨/年 · 处理量折算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90672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170×365，非年度实测总量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1984248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713.6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27157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万元/年 · 服务费用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3090672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62050×115元，原范围待核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1984248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7300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27157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吨/年 · 浓缩液量级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3090672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独立统计，不重复计入进水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151376"/>
            <a:ext cx="10652760" cy="1197864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343400"/>
            <a:ext cx="10149840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对按m³计价的同一工作项，单价每变化10元/m³：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170万m³对应1700万元变化；250万m³对应2500万元变化。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10元/m³是敏感度步长，非市场报价；按吨计价费用不能直接套算。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06｜投入产出边界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仅靠现有处理费避支，财务回收有明确上限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B01量价；10/20年为乙方比较窗口；未折现理想边界。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25 /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29968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7135.8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6148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万元 · 10年理论最高避免支出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36392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713.575万元/年×10年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29968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14271.5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6148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万元 · 20年理论最高避免支出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36392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713.575万元/年×20年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42232"/>
            <a:ext cx="10652760" cy="1207008"/>
          </a:xfrm>
          <a:prstGeom prst="rect">
            <a:avLst/>
          </a:prstGeom>
          <a:solidFill>
            <a:srgbClr val="FB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43400"/>
            <a:ext cx="10149840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理想假设：全额费用消失、量价不变、无新增维护、无折现。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AE4D46"/>
                </a:solidFill>
                <a:latin typeface="Noto Sans CJK SC"/>
                <a:ea typeface="Noto Sans CJK SC"/>
                <a:cs typeface="Noto Sans CJK SC"/>
              </a:rPr>
              <a:t>实际应扣除后期处理监测；超过此上限的投入不能仅靠该费用回收。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主体投资和后期费用未核定，不承诺净现值、内部收益率或回收期。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06｜综合效益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公共效益按实物与监测核验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S01—S06；S09—S13；乙方成果评价框架。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26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103120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276856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环境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999232"/>
            <a:ext cx="2212848" cy="2048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合法移除与去向闭合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污染水不外逸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地下水趋势与臭气控制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103120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5032" y="227685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社会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4176" y="2999232"/>
            <a:ext cx="2212848" cy="2048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社区投诉和反馈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施工运输影响受控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人员与作业安全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103120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27685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经济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536" y="2999232"/>
            <a:ext cx="2212848" cy="2048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真实全周期费用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合规材料交易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减少重复设计与转运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103120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45752" y="227685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公共治理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2999232"/>
            <a:ext cx="2212848" cy="2048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一场一策和隐患闭环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责任资金监测可追溯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结果依法公开和监督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不预设污染削减比例、健康改善人数、土地溢价或产业租金收益。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07｜顶层设计与资金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一个业主统筹，治理和开发各自核算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S02；S04（二十三）（二十五）；S06；乙方组织建议。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27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甲方统筹与部门协同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明确业主、目标和采购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审批、资金和行政协调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城管、生态环境、自然资源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住建及排水按职责协同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乙方与专业职责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乙方调查论证、方案接口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按委托和批准范围实施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监理核量，检测评估独立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运维和接收合同责任清晰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两阶段资金落实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先核前期清单和真实报价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规模工程另批准概算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治理与开发成本分别记账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政策支持不等于已获补助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不以产业前景替代主体资金到位，不以垃圾清运代替后期责任移交。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07｜实施周期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前180天取得实证与条件，主体工期另核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乙方建议计划，以2026-10-11为起点；B01合同节点。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28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103120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276856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0—30天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999232"/>
            <a:ext cx="2212848" cy="2048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至2026-11-10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运维衔接、调档测绘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阶段性污染风险诊断</a:t>
            </a:r>
          </a:p>
        </p:txBody>
      </p:sp>
      <p:sp>
        <p:nvSpPr>
          <p:cNvPr id="16" name="Chevron 15"/>
          <p:cNvSpPr/>
          <p:nvPr/>
        </p:nvSpPr>
        <p:spPr>
          <a:xfrm>
            <a:off x="3310128" y="3364991"/>
            <a:ext cx="118872" cy="219456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2103120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85032" y="227685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30—90天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2999232"/>
            <a:ext cx="2212848" cy="2048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至2027-01-09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调查、组分水质试验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去向日量及报价</a:t>
            </a:r>
          </a:p>
        </p:txBody>
      </p:sp>
      <p:sp>
        <p:nvSpPr>
          <p:cNvPr id="22" name="Chevron 21"/>
          <p:cNvSpPr/>
          <p:nvPr/>
        </p:nvSpPr>
        <p:spPr>
          <a:xfrm>
            <a:off x="6190488" y="3364991"/>
            <a:ext cx="118872" cy="219456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2103120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227685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90—180天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4536" y="2999232"/>
            <a:ext cx="2212848" cy="2048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至2027-04-09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程序具备后示范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设计概算、资金审批</a:t>
            </a:r>
          </a:p>
        </p:txBody>
      </p:sp>
      <p:sp>
        <p:nvSpPr>
          <p:cNvPr id="28" name="Chevron 27"/>
          <p:cNvSpPr/>
          <p:nvPr/>
        </p:nvSpPr>
        <p:spPr>
          <a:xfrm>
            <a:off x="9070848" y="3364991"/>
            <a:ext cx="118872" cy="219456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2103120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45752" y="227685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批准后实施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4896" y="2999232"/>
            <a:ext cx="2212848" cy="2048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控制设施先可用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分区清挖与场底修复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效果评估及后期管理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合同在2026-12-31前衔接；30天诊断不替代完整调查，时间届满不等于放行。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07｜近期任务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当前宜决定启动运行衔接与前期实证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乙方提交意见；具体审批、资金及委托由甲方依法决定。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29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874519"/>
          <a:ext cx="11000231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0071"/>
                <a:gridCol w="7590160"/>
              </a:tblGrid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当前任务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提交的具体成果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明确业主和治理目标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治理边界、部门接口、前期采购及资金路径。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到期前保障处理与接收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合同范围、服务清单、备用、运行库存和交接。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污染风险和稳定调查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土壤地下水、受体、气液液位、防渗和分工况稳定。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统一存量及全部去向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体积密度组分、试接收、持续日量、距离与报价。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准备示范、可研设计与概算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依法完善条件后实施；主体范围、总投资与工期再核定。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异常风险先控制；实证决定施工，不等待整体招标才维持现有污染治理。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依据索引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20项来源支撑同一套数据和结论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18项官方文件或案例＋2项场地资料；完整原文链接见Word附录及PPT备注。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30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892807"/>
          <a:ext cx="11000231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46"/>
                <a:gridCol w="8800185"/>
              </a:tblGrid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编号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依据范围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B01—B02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场地整治工作资料和背景存量差异；不沿用附件投资收益推测。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S01—S06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现行法典、填埋标准、开挖草案、国家行动规划及修复开发衔接。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S07—S10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地下水与排水条例，2025版固废鉴别和施工噪声标准。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S11—S13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建设用地土壤风险及HJ调查、修复和效果评估技术标准。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C01—C05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海南江西开挖实践、阿苏卫配置、深圳浓液中试与监管、营口反例。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公开案例未核得的成本与收益不推定，预算和效果按本场调查、报价及验收核定。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大岭山镇旧飞鹅生活垃圾填埋场综合治理可研与实施方案｜镇领导汇报</dc:title>
  <dc:subject>现行官方依据、全国开挖案例、急迫性、可行性与项目实施措施</dc:subject>
  <dc:creator>乙方技术研究报告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