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旧飞鹅生活垃圾填埋场综合治理方案</a:t>
            </a:r>
          </a:p>
          <a:p/>
          <a:p>
            <a:r>
              <a:t>本项目以持续运维、污染诊断、分类开挖处置和效果评估为主线。规模工程由实测风险、末端接收和资金审批共同确定。</a:t>
            </a:r>
          </a:p>
          <a:p/>
          <a:p>
            <a:r>
              <a:t>依据：B01 S01 S02 S04 S05 C01 C02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[S01] 中华人民共和国生态环境法典</a:t>
            </a:r>
          </a:p>
          <a:p>
            <a:r>
              <a:t>https://www.mee.gov.cn/ywgz/fgbz/fl/202603/t20260313_1146496.shtml</a:t>
            </a:r>
          </a:p>
          <a:p>
            <a:r>
              <a:t>定位：第511—513条、第1242条；环境影响评价、土壤污染风险管控和修复相关章节；现行法律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  <a:p>
            <a:r>
              <a:t>[C01] 深圳市下坪环境园调研组赴海南、江西已封场简易填埋场调研学习</a:t>
            </a:r>
          </a:p>
          <a:p>
            <a:r>
              <a:t>https://cgj.sz.gov.cn/zwgk/gzdt/content/post_10610768.html</a:t>
            </a:r>
          </a:p>
          <a:p>
            <a:r>
              <a:t>定位：三亚、海口颜春岭、江西吉安泰和；实地考察开挖作业现场、筛分处置流程和工期管理；官方现场调研记录；未公布投资、工程量、完成率或收益</a:t>
            </a:r>
          </a:p>
          <a:p>
            <a:r>
              <a:t>[C02] 北京华源惠众环保科技有限公司（环保设施向公众开放资料）</a:t>
            </a:r>
          </a:p>
          <a:p>
            <a:r>
              <a:t>https://www.mee.gov.cn/home/ztbd/rdzl/sskf/kfss/bjs/dsipbj/202103/t20210309_823930.shtml</a:t>
            </a:r>
          </a:p>
          <a:p>
            <a:r>
              <a:t>定位：阿苏卫园区陈腐垃圾筛分3000 t/d、焚烧3000 t/d、渗滤液850 t/d；设施设计配置；不代表实际处理量或完成量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汇报内容</a:t>
            </a:r>
          </a:p>
          <a:p/>
          <a:p>
            <a:r>
              <a:t>汇报与文字方案采用同一场地口径、现行文件和案例范围。</a:t>
            </a:r>
          </a:p>
          <a:p/>
          <a:p>
            <a:r>
              <a:t>依据：B01 S02 S03 S04 S05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四项项目判断</a:t>
            </a:r>
          </a:p>
          <a:p/>
          <a:p>
            <a:r>
              <a:t>急迫工作是运维保障、隐患诊断和实际风险处置；不提前把全量开挖或高风险等级当作已批准结论。</a:t>
            </a:r>
          </a:p>
          <a:p/>
          <a:p>
            <a:r>
              <a:t>依据：B01 S02 S04 S05 C01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  <a:p>
            <a:r>
              <a:t>[C01] 深圳市下坪环境园调研组赴海南、江西已封场简易填埋场调研学习</a:t>
            </a:r>
          </a:p>
          <a:p>
            <a:r>
              <a:t>https://cgj.sz.gov.cn/zwgk/gzdt/content/post_10610768.html</a:t>
            </a:r>
          </a:p>
          <a:p>
            <a:r>
              <a:t>定位：三亚、海口颜春岭、江西吉安泰和；实地考察开挖作业现场、筛分处置流程和工期管理；官方现场调研记录；未公布投资、工程量、完成率或收益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既有封场成果及场地数据口径</a:t>
            </a:r>
          </a:p>
          <a:p/>
          <a:p>
            <a:r>
              <a:t>面积按106845÷10000及÷666.6667换算。存量差异保留，并作为本次测绘需解决的问题。</a:t>
            </a:r>
          </a:p>
          <a:p/>
          <a:p>
            <a:r>
              <a:t>依据：B01 B02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[B02] 《大岭山旧飞鹅垃圾填埋场背景资料》</a:t>
            </a:r>
          </a:p>
          <a:p/>
          <a:p>
            <a:r>
              <a:t>定位：存量垃圾170万m³，与B01的250万m³口径存在差异；仅用于识别场地基础数据差异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2026年法律标准已有重要更新</a:t>
            </a:r>
          </a:p>
          <a:p/>
          <a:p>
            <a:r>
              <a:t>法典2026年8月15日施行；GB34330—2025替代2017版，GB12523—2025替代2011版。征求意见稿不作为现行强制标准。</a:t>
            </a:r>
          </a:p>
          <a:p/>
          <a:p>
            <a:r>
              <a:t>依据：S01 S02 S03 S09 S10</a:t>
            </a:r>
          </a:p>
          <a:p>
            <a:r>
              <a:t>[S01] 中华人民共和国生态环境法典</a:t>
            </a:r>
          </a:p>
          <a:p>
            <a:r>
              <a:t>https://www.mee.gov.cn/ywgz/fgbz/fl/202603/t20260313_1146496.shtml</a:t>
            </a:r>
          </a:p>
          <a:p>
            <a:r>
              <a:t>定位：第511—513条、第1242条；环境影响评价、土壤污染风险管控和修复相关章节；现行法律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[S10] 建筑施工噪声排放标准（GB 12523—2025）</a:t>
            </a:r>
          </a:p>
          <a:p>
            <a:r>
              <a:t>https://www.mee.gov.cn/ywgz/fgbz/bz/bzwb/wlhj/hjzspfbz/202512/t20251211_1137517.shtml</a:t>
            </a:r>
          </a:p>
          <a:p>
            <a:r>
              <a:t>定位：4.1—4.4、表1；昼70、夜55 dB(A)，特殊测点评价按条款；现行强制性国家标准；替代2011版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急迫性来自持续负荷、合同衔接和隐患治理</a:t>
            </a:r>
          </a:p>
          <a:p/>
          <a:p>
            <a:r>
              <a:t>运行负荷来自截至2026年4月的工作资料。300吨/日为应急规模，不能与180相加。原渗滤液与处理产水分别判断。</a:t>
            </a:r>
          </a:p>
          <a:p/>
          <a:p>
            <a:r>
              <a:t>依据：B01 S02 S05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国家要求“一场一策”，2027节点须准确适用</a:t>
            </a:r>
          </a:p>
          <a:p/>
          <a:p>
            <a:r>
              <a:t>行动计划表述针对2024年底前停用且无后续使用计划的填埋场。高风险等级须由实际调查认定。</a:t>
            </a:r>
          </a:p>
          <a:p/>
          <a:p>
            <a:r>
              <a:t>依据：S04 S05 S02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海南与江西：官方记录确认开挖筛分实践</a:t>
            </a:r>
          </a:p>
          <a:p/>
          <a:p>
            <a:r>
              <a:t>官方原文为跨地区现场调研；证据支持已存在实际开挖和筛分现场，不据此声称三个项目均已竣工。</a:t>
            </a:r>
          </a:p>
          <a:p/>
          <a:p>
            <a:r>
              <a:t>依据：C01</a:t>
            </a:r>
          </a:p>
          <a:p>
            <a:r>
              <a:t>[C01] 深圳市下坪环境园调研组赴海南、江西已封场简易填埋场调研学习</a:t>
            </a:r>
          </a:p>
          <a:p>
            <a:r>
              <a:t>https://cgj.sz.gov.cn/zwgk/gzdt/content/post_10610768.html</a:t>
            </a:r>
          </a:p>
          <a:p>
            <a:r>
              <a:t>定位：三亚、海口颜春岭、江西吉安泰和；实地考察开挖作业现场、筛分处置流程和工期管理；官方现场调研记录；未公布投资、工程量、完成率或收益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北京阿苏卫：固体去向与水处理配套</a:t>
            </a:r>
          </a:p>
          <a:p/>
          <a:p>
            <a:r>
              <a:t>不能用850÷3000作为旧飞鹅开挖产水率，也不能以3000吨/日配置推算本场工期。资料证明成套设施配置。</a:t>
            </a:r>
          </a:p>
          <a:p/>
          <a:p>
            <a:r>
              <a:t>依据：C02</a:t>
            </a:r>
          </a:p>
          <a:p>
            <a:r>
              <a:t>[C02] 北京华源惠众环保科技有限公司（环保设施向公众开放资料）</a:t>
            </a:r>
          </a:p>
          <a:p>
            <a:r>
              <a:t>https://www.mee.gov.cn/home/ztbd/rdzl/sskf/kfss/bjs/dsipbj/202103/t20210309_823930.shtml</a:t>
            </a:r>
          </a:p>
          <a:p>
            <a:r>
              <a:t>定位：阿苏卫园区陈腐垃圾筛分3000 t/d、焚烧3000 t/d、渗滤液850 t/d；设施设计配置；不代表实际处理量或完成量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治理目标与三种路线按同一条件比较</a:t>
            </a:r>
          </a:p>
          <a:p/>
          <a:p>
            <a:r>
              <a:t>三种路线按同一治理目标、费用和时间边界比较，不凭主观评分预先确定全量工程。</a:t>
            </a:r>
          </a:p>
          <a:p/>
          <a:p>
            <a:r>
              <a:t>依据：S02 S03 S06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规模开挖可行性由四项条件决定</a:t>
            </a:r>
          </a:p>
          <a:p/>
          <a:p>
            <a:r>
              <a:t>已有案例证明技术环节具有实践基础，场地具体可行性仍取决于四项工程条件。6175平方米为现有处理站占地，不等同分选可用地。</a:t>
            </a:r>
          </a:p>
          <a:p/>
          <a:p>
            <a:r>
              <a:t>依据：B01 S01 S02 S03 S06 S08 S09 C01 C02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[S01] 中华人民共和国生态环境法典</a:t>
            </a:r>
          </a:p>
          <a:p>
            <a:r>
              <a:t>https://www.mee.gov.cn/ywgz/fgbz/fl/202603/t20260313_1146496.shtml</a:t>
            </a:r>
          </a:p>
          <a:p>
            <a:r>
              <a:t>定位：第511—513条、第1242条；环境影响评价、土壤污染风险管控和修复相关章节；现行法律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  <a:p>
            <a:r>
              <a:t>[S08] 城镇排水与污水处理条例（2026年修订）</a:t>
            </a:r>
          </a:p>
          <a:p>
            <a:r>
              <a:t>https://www.mee.gov.cn/zcwj/gwywj/202610/t20261009_1175944.shtml</a:t>
            </a:r>
          </a:p>
          <a:p>
            <a:r>
              <a:t>定位：排水许可、排水水质及接管监管相关条款；现行行政法规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[C01] 深圳市下坪环境园调研组赴海南、江西已封场简易填埋场调研学习</a:t>
            </a:r>
          </a:p>
          <a:p>
            <a:r>
              <a:t>https://cgj.sz.gov.cn/zwgk/gzdt/content/post_10610768.html</a:t>
            </a:r>
          </a:p>
          <a:p>
            <a:r>
              <a:t>定位：三亚、海口颜春岭、江西吉安泰和；实地考察开挖作业现场、筛分处置流程和工期管理；官方现场调研记录；未公布投资、工程量、完成率或收益</a:t>
            </a:r>
          </a:p>
          <a:p>
            <a:r>
              <a:t>[C02] 北京华源惠众环保科技有限公司（环保设施向公众开放资料）</a:t>
            </a:r>
          </a:p>
          <a:p>
            <a:r>
              <a:t>https://www.mee.gov.cn/home/ztbd/rdzl/sskf/kfss/bjs/dsipbj/202103/t20210309_823930.shtml</a:t>
            </a:r>
          </a:p>
          <a:p>
            <a:r>
              <a:t>定位：阿苏卫园区陈腐垃圾筛分3000 t/d、焚烧3000 t/d、渗滤液850 t/d；设施设计配置；不代表实际处理量或完成量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治理前调查直接解决工程量与风险条件</a:t>
            </a:r>
          </a:p>
          <a:p/>
          <a:p>
            <a:r>
              <a:t>调查布点、深度和数量由实际条件与规范确定；历史资料的达标叙述不代替现状数据。</a:t>
            </a:r>
          </a:p>
          <a:p/>
          <a:p>
            <a:r>
              <a:t>依据：B01 B02 S02 S03 S07 S12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[B02] 《大岭山旧飞鹅垃圾填埋场背景资料》</a:t>
            </a:r>
          </a:p>
          <a:p/>
          <a:p>
            <a:r>
              <a:t>定位：存量垃圾170万m³，与B01的250万m³口径存在差异；仅用于识别场地基础数据差异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[S07] 地下水管理条例（2026年修订）</a:t>
            </a:r>
          </a:p>
          <a:p>
            <a:r>
              <a:t>https://www.mee.gov.cn/zcwj/gwywj/202610/t20261009_1175922.shtml</a:t>
            </a:r>
          </a:p>
          <a:p>
            <a:r>
              <a:t>定位：第40、41、45条；防渗漏、监测井与风险评估；现行行政法规</a:t>
            </a:r>
          </a:p>
          <a:p>
            <a:r>
              <a:t>[S12] 关于发布《建设用地土壤污染状况调查技术导则》等5项国家环境保护标准的公告</a:t>
            </a:r>
          </a:p>
          <a:p>
            <a:r>
              <a:t>https://www.mee.gov.cn/xxgk2018/xxgk/xxgk01/201912/t20191209_748356.html</a:t>
            </a:r>
          </a:p>
          <a:p>
            <a:r>
              <a:t>定位：HJ 25.1—2019、HJ 25.2—2019、HJ 25.3—2019、HJ 25.4—2019；公告另含HJ 682—2019；调查、风险评估、修复及监测技术标准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示范单元取得本场实际量质和成本</a:t>
            </a:r>
          </a:p>
          <a:p/>
          <a:p>
            <a:r>
              <a:t>示范的代表性需覆盖垃圾层位和含水差异，体积与质量不混用，量质收支按同一边界核对。</a:t>
            </a:r>
          </a:p>
          <a:p/>
          <a:p>
            <a:r>
              <a:t>依据：S03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综合治理工艺：分区开挖与场底治理衔接</a:t>
            </a:r>
          </a:p>
          <a:p/>
          <a:p>
            <a:r>
              <a:t>未开挖区保持原覆盖维护；分区降低暴露，处理设施和末端接收先于规模开挖。挖除后仍需场底和地下水治理及效果评估。</a:t>
            </a:r>
          </a:p>
          <a:p/>
          <a:p>
            <a:r>
              <a:t>依据：S02 S03 S06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水系统：先核定存量和可用能力，再新增排水</a:t>
            </a:r>
          </a:p>
          <a:p/>
          <a:p>
            <a:r>
              <a:t>调节池30000立方米为记载容积，不是当前水量或可用余量。环场导排不一定能降低内部积液，必要时设计分区抽提。纳管执行9.2条、许可及接收条件。</a:t>
            </a:r>
          </a:p>
          <a:p/>
          <a:p>
            <a:r>
              <a:t>依据：B01 S02 S03 S08 S09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[S08] 城镇排水与污水处理条例（2026年修订）</a:t>
            </a:r>
          </a:p>
          <a:p>
            <a:r>
              <a:t>https://www.mee.gov.cn/zcwj/gwywj/202610/t20261009_1175944.shtml</a:t>
            </a:r>
          </a:p>
          <a:p>
            <a:r>
              <a:t>定位：排水许可、排水水质及接管监管相关条款；现行行政法规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膜浓缩液单独管理，处置技术通过本场中试</a:t>
            </a:r>
          </a:p>
          <a:p/>
          <a:p>
            <a:r>
              <a:t>GB34330附录列膜处理浓缩液，同时第8.1等条款规定适用情形，须依法核定管理方式，不能一概定危废或一概按普通污水。</a:t>
            </a:r>
          </a:p>
          <a:p/>
          <a:p>
            <a:r>
              <a:t>依据：S09 C03 B01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[C03] 广东省住房和城乡建设厅科技创新计划项目《垃圾填埋场渗滤液膜浓液处理技术研究》顺利通过验收</a:t>
            </a:r>
          </a:p>
          <a:p>
            <a:r>
              <a:t>https://cgj.sz.gov.cn/zwgk/gzdt/content/post_12691232.html</a:t>
            </a:r>
          </a:p>
          <a:p>
            <a:r>
              <a:t>定位：2026-03-12科研验收；高效物化沉淀+强化生化处理+PS高级氧化组合中试；科研中试通过验收；不是全规模工程绩效或报价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气体与臭气：环境控制和人员安全分别落实</a:t>
            </a:r>
          </a:p>
          <a:p/>
          <a:p>
            <a:r>
              <a:t>甲烷&lt;5%与停抽注24小时对应预处理核验；作业面&gt;1%仅对应环境监测加密。达到12天不自动具备开挖条件。</a:t>
            </a:r>
          </a:p>
          <a:p/>
          <a:p>
            <a:r>
              <a:t>依据：S03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分层开挖、低液位及场底防渗保护</a:t>
            </a:r>
          </a:p>
          <a:p/>
          <a:p>
            <a:r>
              <a:t>第6.3.5条还存在浅层专项评估条件，本方案采用一般分层控制，不机械采用一次开挖。具体层厚和稳定需专项验算。</a:t>
            </a:r>
          </a:p>
          <a:p/>
          <a:p>
            <a:r>
              <a:t>依据：S03 S06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密闭筛分，所有产物先落实合法去向</a:t>
            </a:r>
          </a:p>
          <a:p/>
          <a:p>
            <a:r>
              <a:t>含水率大于40%先沥水是稿件技术参考。细料土壤检测、固废属性、工程性能和真实用途分别核验。接收拒收及库存上限联动停止新增开挖。</a:t>
            </a:r>
          </a:p>
          <a:p/>
          <a:p>
            <a:r>
              <a:t>依据：S01 S03 S09</a:t>
            </a:r>
          </a:p>
          <a:p>
            <a:r>
              <a:t>[S01] 中华人民共和国生态环境法典</a:t>
            </a:r>
          </a:p>
          <a:p>
            <a:r>
              <a:t>https://www.mee.gov.cn/ywgz/fgbz/fl/202603/t20260313_1146496.shtml</a:t>
            </a:r>
          </a:p>
          <a:p>
            <a:r>
              <a:t>定位：第511—513条、第1242条；环境影响评价、土壤污染风险管控和修复相关章节；现行法律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地下水和土壤治理不能被垃圾清运替代</a:t>
            </a:r>
          </a:p>
          <a:p/>
          <a:p>
            <a:r>
              <a:t>地下水恢复可能晚于清挖，需要持续措施和预算。后续开发不能跳过调查评估、效果评估及规划程序。</a:t>
            </a:r>
          </a:p>
          <a:p/>
          <a:p>
            <a:r>
              <a:t>依据：S02 S06 S07 S12 S13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  <a:p>
            <a:r>
              <a:t>[S07] 地下水管理条例（2026年修订）</a:t>
            </a:r>
          </a:p>
          <a:p>
            <a:r>
              <a:t>https://www.mee.gov.cn/zcwj/gwywj/202610/t20261009_1175922.shtml</a:t>
            </a:r>
          </a:p>
          <a:p>
            <a:r>
              <a:t>定位：第40、41、45条；防渗漏、监测井与风险评估；现行行政法规</a:t>
            </a:r>
          </a:p>
          <a:p>
            <a:r>
              <a:t>[S12] 关于发布《建设用地土壤污染状况调查技术导则》等5项国家环境保护标准的公告</a:t>
            </a:r>
          </a:p>
          <a:p>
            <a:r>
              <a:t>https://www.mee.gov.cn/xxgk2018/xxgk/xxgk01/201912/t20191209_748356.html</a:t>
            </a:r>
          </a:p>
          <a:p>
            <a:r>
              <a:t>定位：HJ 25.1—2019、HJ 25.2—2019、HJ 25.3—2019、HJ 25.4—2019；公告另含HJ 682—2019；调查、风险评估、修复及监测技术标准</a:t>
            </a:r>
          </a:p>
          <a:p>
            <a:r>
              <a:t>[S13] 污染地块风险管控与土壤修复效果评估技术导则（HJ 25.5—2018）</a:t>
            </a:r>
          </a:p>
          <a:p>
            <a:r>
              <a:t>https://www.mee.gov.cn/ywgz/fgbz/bz/bzwb/trhj/201901/t20190107_688646.shtml</a:t>
            </a:r>
          </a:p>
          <a:p>
            <a:r>
              <a:t>定位：适用范围；污染地块风险管控与修复效果评估；技术标准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施工监测覆盖地下水、气液、稳定与敏感点</a:t>
            </a:r>
          </a:p>
          <a:p/>
          <a:p>
            <a:r>
              <a:t>噪声新版2026年1月1日起实施。安全监测不能用环境最低频次代替，原16个堆体点位按实际开挖复核布点。</a:t>
            </a:r>
          </a:p>
          <a:p/>
          <a:p>
            <a:r>
              <a:t>依据：S02 S03 S10 B01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[S10] 建筑施工噪声排放标准（GB 12523—2025）</a:t>
            </a:r>
          </a:p>
          <a:p>
            <a:r>
              <a:t>https://www.mee.gov.cn/ywgz/fgbz/bz/bzwb/wlhj/hjzspfbz/202512/t20251211_1137517.shtml</a:t>
            </a:r>
          </a:p>
          <a:p>
            <a:r>
              <a:t>定位：4.1—4.4、表1；昼70、夜55 dB(A)，特殊测点评价按条款；现行强制性国家标准；替代2011版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异常触发停工，纠偏复核后恢复</a:t>
            </a:r>
          </a:p>
          <a:p/>
          <a:p>
            <a:r>
              <a:t>业主统筹，施工、运维及监理职责明确；恢复条件包括查因、纠偏、安全环境复核和记录。严重事件依法报告。</a:t>
            </a:r>
          </a:p>
          <a:p/>
          <a:p>
            <a:r>
              <a:t>依据：S02 S03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既有运维费用有资料依据，开挖投资另行核定</a:t>
            </a:r>
          </a:p>
          <a:p/>
          <a:p>
            <a:r>
              <a:t>170吨/日和20吨/日为场地工作资料记载平均负荷，按365天折算仅判断量级。历史1261万元属封场，不能套为开挖投资。</a:t>
            </a:r>
          </a:p>
          <a:p/>
          <a:p>
            <a:r>
              <a:t>依据：B01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投资按工程量、设施与全部末端费用闭合</a:t>
            </a:r>
          </a:p>
          <a:p/>
          <a:p>
            <a:r>
              <a:t>170万、250万立方米差异和密度、产率、接收价未统一，现阶段不能核定项目总投资。外地案例未披露相同边界单价。</a:t>
            </a:r>
          </a:p>
          <a:p/>
          <a:p>
            <a:r>
              <a:t>依据：B01 B02 C01 C02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[B02] 《大岭山旧飞鹅垃圾填埋场背景资料》</a:t>
            </a:r>
          </a:p>
          <a:p/>
          <a:p>
            <a:r>
              <a:t>定位：存量垃圾170万m³，与B01的250万m³口径存在差异；仅用于识别场地基础数据差异</a:t>
            </a:r>
          </a:p>
          <a:p>
            <a:r>
              <a:t>[C01] 深圳市下坪环境园调研组赴海南、江西已封场简易填埋场调研学习</a:t>
            </a:r>
          </a:p>
          <a:p>
            <a:r>
              <a:t>https://cgj.sz.gov.cn/zwgk/gzdt/content/post_10610768.html</a:t>
            </a:r>
          </a:p>
          <a:p>
            <a:r>
              <a:t>定位：三亚、海口颜春岭、江西吉安泰和；实地考察开挖作业现场、筛分处置流程和工期管理；官方现场调研记录；未公布投资、工程量、完成率或收益</a:t>
            </a:r>
          </a:p>
          <a:p>
            <a:r>
              <a:t>[C02] 北京华源惠众环保科技有限公司（环保设施向公众开放资料）</a:t>
            </a:r>
          </a:p>
          <a:p>
            <a:r>
              <a:t>https://www.mee.gov.cn/home/ztbd/rdzl/sskf/kfss/bjs/dsipbj/202103/t20210309_823930.shtml</a:t>
            </a:r>
          </a:p>
          <a:p>
            <a:r>
              <a:t>定位：阿苏卫园区陈腐垃圾筛分3000 t/d、焚烧3000 t/d、渗滤液850 t/d；设施设计配置；不代表实际处理量或完成量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资金以公益治理支出和全周期成本安排</a:t>
            </a:r>
          </a:p>
          <a:p/>
          <a:p>
            <a:r>
              <a:t>政策工具需要满足条件并完成申报审批，不能承诺补助或融资额度。不得将现有年度服务费折算全部当作开挖可节省净收益。</a:t>
            </a:r>
          </a:p>
          <a:p/>
          <a:p>
            <a:r>
              <a:t>依据：S04 B01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近期6个月安排与规模工程工期条件</a:t>
            </a:r>
          </a:p>
          <a:p/>
          <a:p>
            <a:r>
              <a:t>0—1、1—3、3—6个月是项目安排。运维合同2026年12月31日节点需即刻衔接。质量M=体积V×实测湿密度ρ，持续能力Q受开挖筛分、末端接收及水气系统约束；有效天数至少M/Q，日历工期另加天气、检修、修复评估等实际因素。</a:t>
            </a:r>
          </a:p>
          <a:p/>
          <a:p>
            <a:r>
              <a:t>依据：B01 S03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治理后按环境效果和后期责任验收</a:t>
            </a:r>
          </a:p>
          <a:p/>
          <a:p>
            <a:r>
              <a:t>垃圾清运、环境修复及后续开发属于关联任务，不能用场地平整替代效果评估，也不能擅自停止仍必要的处理设施。</a:t>
            </a:r>
          </a:p>
          <a:p/>
          <a:p>
            <a:r>
              <a:t>依据：S02 S06 S12 S13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  <a:p>
            <a:r>
              <a:t>[S12] 关于发布《建设用地土壤污染状况调查技术导则》等5项国家环境保护标准的公告</a:t>
            </a:r>
          </a:p>
          <a:p>
            <a:r>
              <a:t>https://www.mee.gov.cn/xxgk2018/xxgk/xxgk01/201912/t20191209_748356.html</a:t>
            </a:r>
          </a:p>
          <a:p>
            <a:r>
              <a:t>定位：HJ 25.1—2019、HJ 25.2—2019、HJ 25.3—2019、HJ 25.4—2019；公告另含HJ 682—2019；调查、风险评估、修复及监测技术标准</a:t>
            </a:r>
          </a:p>
          <a:p>
            <a:r>
              <a:t>[S13] 污染地块风险管控与土壤修复效果评估技术导则（HJ 25.5—2018）</a:t>
            </a:r>
          </a:p>
          <a:p>
            <a:r>
              <a:t>https://www.mee.gov.cn/ywgz/fgbz/bz/bzwb/trhj/201901/t20190107_688646.shtml</a:t>
            </a:r>
          </a:p>
          <a:p>
            <a:r>
              <a:t>定位：适用范围；污染地块风险管控与修复效果评估；技术标准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综合效益用实际成果核验</a:t>
            </a:r>
          </a:p>
          <a:p/>
          <a:p>
            <a:r>
              <a:t>环境用处置质量和监测趋势，社会用投诉、安全和运输记录，经济用全周期支出和真实合同，治理用责任、资金、台账与监管核验。不预设减排比例、健康收益、土地溢价或产业产值。</a:t>
            </a:r>
          </a:p>
          <a:p/>
          <a:p>
            <a:r>
              <a:t>依据：S01 S02 S04 S05 S06</a:t>
            </a:r>
          </a:p>
          <a:p>
            <a:r>
              <a:t>[S01] 中华人民共和国生态环境法典</a:t>
            </a:r>
          </a:p>
          <a:p>
            <a:r>
              <a:t>https://www.mee.gov.cn/ywgz/fgbz/fl/202603/t20260313_1146496.shtml</a:t>
            </a:r>
          </a:p>
          <a:p>
            <a:r>
              <a:t>定位：第511—513条、第1242条；环境影响评价、土壤污染风险管控和修复相关章节；现行法律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近期推进任务：运维保障、统一调查、末端落实</a:t>
            </a:r>
          </a:p>
          <a:p/>
          <a:p>
            <a:r>
              <a:t>前期任务对应明确成果和责任主体。决策对象是可执行的调查、持续维护、接收和工程前期工作，规模开挖按成熟条件实施。</a:t>
            </a:r>
          </a:p>
          <a:p/>
          <a:p>
            <a:r>
              <a:t>依据：B01 S02 S03 S04 S05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主要官方依据与案例定位</a:t>
            </a:r>
          </a:p>
          <a:p/>
          <a:p>
            <a:r>
              <a:t>全文官方来源均列于报告附录和Excel，源文发布或施行日期与案例实施状态分别标注。项目安排与稿件技术参考分别标明。</a:t>
            </a:r>
          </a:p>
          <a:p/>
          <a:p>
            <a:r>
              <a:t>依据：S01 S02 S03 S04 S05 S06 S07 S08 S09 S10 S11 S12 S13 C01 C02 C03 C04 B01 B02</a:t>
            </a:r>
          </a:p>
          <a:p>
            <a:r>
              <a:t>[S01] 中华人民共和国生态环境法典</a:t>
            </a:r>
          </a:p>
          <a:p>
            <a:r>
              <a:t>https://www.mee.gov.cn/ywgz/fgbz/fl/202603/t20260313_1146496.shtml</a:t>
            </a:r>
          </a:p>
          <a:p>
            <a:r>
              <a:t>定位：第511—513条、第1242条；环境影响评价、土壤污染风险管控和修复相关章节；现行法律</a:t>
            </a:r>
          </a:p>
          <a:p>
            <a:r>
              <a:t>[S02] 生活垃圾填埋场污染控制标准（GB 16889—2024）</a:t>
            </a:r>
          </a:p>
          <a:p>
            <a:r>
              <a:t>https://www.mee.gov.cn/ywgz/fgbz/bz/bzwb/gthw/gtfwwrkzbz/202408/t20240809_1083681.shtml</a:t>
            </a:r>
          </a:p>
          <a:p>
            <a:r>
              <a:t>定位：7.8—7.10、8.7—8.9、9.2；现行强制性国家标准</a:t>
            </a:r>
          </a:p>
          <a:p>
            <a:r>
              <a:t>[S03] 生活垃圾填埋场开挖治理污染防治技术指南（征求意见稿）及编制说明</a:t>
            </a:r>
          </a:p>
          <a:p>
            <a:r>
              <a:t>https://www.mee.gov.cn/xxgk2018/xxgk/xxgk06/202512/t20251226_1139029.html</a:t>
            </a:r>
          </a:p>
          <a:p>
            <a:r>
              <a:t>定位：4—8章；6.2.1、6.2.6、6.3.1、6.3.5、6.4.3、7.2—7.4；检索取得版本为征求意见稿，作为技术参考</a:t>
            </a:r>
          </a:p>
          <a:p>
            <a:r>
              <a:t>[S04] 国务院关于印发《固体废物综合治理行动计划》的通知（国发〔2025〕14号）</a:t>
            </a:r>
          </a:p>
          <a:p>
            <a:r>
              <a:t>https://www.mee.gov.cn/zcwj/gwywj/202601/t20260105_1139840.shtml</a:t>
            </a:r>
          </a:p>
          <a:p>
            <a:r>
              <a:t>定位：（十三）、（二十三）、（二十五）；一场一策与停用填埋场封场治理；国家政策文件；2027年节点不等于全量开挖要求</a:t>
            </a:r>
          </a:p>
          <a:p>
            <a:r>
              <a:t>[S05] 固体废物污染防治“十五五”规划</a:t>
            </a:r>
          </a:p>
          <a:p>
            <a:r>
              <a:t>https://www.mee.gov.cn/xxgk2018/xxgk/xxgk03/202607/t20260714_1161736.html</a:t>
            </a:r>
          </a:p>
          <a:p>
            <a:r>
              <a:t>定位：二（四）；生活垃圾填埋场隐患台账、高风险综合治理、积存渗滤液与渗漏治理；国家专项规划</a:t>
            </a:r>
          </a:p>
          <a:p>
            <a:r>
              <a:t>[S06] 关于做好污染地块环境修复与开发建设衔接的指导意见</a:t>
            </a:r>
          </a:p>
          <a:p>
            <a:r>
              <a:t>https://www.mee.gov.cn/xxgk2018/xxgk/xxgk03/202601/t20260121_1142344.html</a:t>
            </a:r>
          </a:p>
          <a:p>
            <a:r>
              <a:t>定位：二（一）（二）、三（四）（五）、四（六）（七）；环境修复与开发建设程序衔接指导文件</a:t>
            </a:r>
          </a:p>
          <a:p>
            <a:r>
              <a:t>[S07] 地下水管理条例（2026年修订）</a:t>
            </a:r>
          </a:p>
          <a:p>
            <a:r>
              <a:t>https://www.mee.gov.cn/zcwj/gwywj/202610/t20261009_1175922.shtml</a:t>
            </a:r>
          </a:p>
          <a:p>
            <a:r>
              <a:t>定位：第40、41、45条；防渗漏、监测井与风险评估；现行行政法规</a:t>
            </a:r>
          </a:p>
          <a:p>
            <a:r>
              <a:t>[S08] 城镇排水与污水处理条例（2026年修订）</a:t>
            </a:r>
          </a:p>
          <a:p>
            <a:r>
              <a:t>https://www.mee.gov.cn/zcwj/gwywj/202610/t20261009_1175944.shtml</a:t>
            </a:r>
          </a:p>
          <a:p>
            <a:r>
              <a:t>定位：排水许可、排水水质及接管监管相关条款；现行行政法规</a:t>
            </a:r>
          </a:p>
          <a:p>
            <a:r>
              <a:t>[S09] 固体废物鉴别标准 通则（GB 34330—2025）</a:t>
            </a:r>
          </a:p>
          <a:p>
            <a:r>
              <a:t>https://www.mee.gov.cn/ywgz/fgbz/bz/bzwb/gthw/gtfwwrkzbz/202512/t20251212_1137618.shtml</a:t>
            </a:r>
          </a:p>
          <a:p>
            <a:r>
              <a:t>定位：第6、7章、8.1、8.4；附录A.3 b）2）；膜浓缩液及利用产物鉴别；现行强制性国家标准；替代2017版</a:t>
            </a:r>
          </a:p>
          <a:p>
            <a:r>
              <a:t>[S10] 建筑施工噪声排放标准（GB 12523—2025）</a:t>
            </a:r>
          </a:p>
          <a:p>
            <a:r>
              <a:t>https://www.mee.gov.cn/ywgz/fgbz/bz/bzwb/wlhj/hjzspfbz/202512/t20251211_1137517.shtml</a:t>
            </a:r>
          </a:p>
          <a:p>
            <a:r>
              <a:t>定位：4.1—4.4、表1；昼70、夜55 dB(A)，特殊测点评价按条款；现行强制性国家标准；替代2011版</a:t>
            </a:r>
          </a:p>
          <a:p>
            <a:r>
              <a:t>[S11] 土壤环境质量 建设用地土壤污染风险管控标准（试行）（GB 36600—2018）</a:t>
            </a:r>
          </a:p>
          <a:p>
            <a:r>
              <a:t>https://www.mee.gov.cn/ywgz/fgbz/bz/bzwb/trhj/201807/t20180703_446027.shtml</a:t>
            </a:r>
          </a:p>
          <a:p>
            <a:r>
              <a:t>定位：建设用地土壤风险筛选与管制；不等同固废产品合规判定；建设用地土壤风险管控国家标准</a:t>
            </a:r>
          </a:p>
          <a:p>
            <a:r>
              <a:t>[S12] 关于发布《建设用地土壤污染状况调查技术导则》等5项国家环境保护标准的公告</a:t>
            </a:r>
          </a:p>
          <a:p>
            <a:r>
              <a:t>https://www.mee.gov.cn/xxgk2018/xxgk/xxgk01/201912/t20191209_748356.html</a:t>
            </a:r>
          </a:p>
          <a:p>
            <a:r>
              <a:t>定位：HJ 25.1—2019、HJ 25.2—2019、HJ 25.3—2019、HJ 25.4—2019；公告另含HJ 682—2019；调查、风险评估、修复及监测技术标准</a:t>
            </a:r>
          </a:p>
          <a:p>
            <a:r>
              <a:t>[S13] 污染地块风险管控与土壤修复效果评估技术导则（HJ 25.5—2018）</a:t>
            </a:r>
          </a:p>
          <a:p>
            <a:r>
              <a:t>https://www.mee.gov.cn/ywgz/fgbz/bz/bzwb/trhj/201901/t20190107_688646.shtml</a:t>
            </a:r>
          </a:p>
          <a:p>
            <a:r>
              <a:t>定位：适用范围；污染地块风险管控与修复效果评估；技术标准</a:t>
            </a:r>
          </a:p>
          <a:p>
            <a:r>
              <a:t>[C01] 深圳市下坪环境园调研组赴海南、江西已封场简易填埋场调研学习</a:t>
            </a:r>
          </a:p>
          <a:p>
            <a:r>
              <a:t>https://cgj.sz.gov.cn/zwgk/gzdt/content/post_10610768.html</a:t>
            </a:r>
          </a:p>
          <a:p>
            <a:r>
              <a:t>定位：三亚、海口颜春岭、江西吉安泰和；实地考察开挖作业现场、筛分处置流程和工期管理；官方现场调研记录；未公布投资、工程量、完成率或收益</a:t>
            </a:r>
          </a:p>
          <a:p>
            <a:r>
              <a:t>[C02] 北京华源惠众环保科技有限公司（环保设施向公众开放资料）</a:t>
            </a:r>
          </a:p>
          <a:p>
            <a:r>
              <a:t>https://www.mee.gov.cn/home/ztbd/rdzl/sskf/kfss/bjs/dsipbj/202103/t20210309_823930.shtml</a:t>
            </a:r>
          </a:p>
          <a:p>
            <a:r>
              <a:t>定位：阿苏卫园区陈腐垃圾筛分3000 t/d、焚烧3000 t/d、渗滤液850 t/d；设施设计配置；不代表实际处理量或完成量</a:t>
            </a:r>
          </a:p>
          <a:p>
            <a:r>
              <a:t>[C03] 广东省住房和城乡建设厅科技创新计划项目《垃圾填埋场渗滤液膜浓液处理技术研究》顺利通过验收</a:t>
            </a:r>
          </a:p>
          <a:p>
            <a:r>
              <a:t>https://cgj.sz.gov.cn/zwgk/gzdt/content/post_12691232.html</a:t>
            </a:r>
          </a:p>
          <a:p>
            <a:r>
              <a:t>定位：2026-03-12科研验收；高效物化沉淀+强化生化处理+PS高级氧化组合中试；科研中试通过验收；不是全规模工程绩效或报价</a:t>
            </a:r>
          </a:p>
          <a:p>
            <a:r>
              <a:t>[C04] 开展鸭湖填埋场地下水监测检查及地方规范宣贯的工作信息</a:t>
            </a:r>
          </a:p>
          <a:p>
            <a:r>
              <a:t>https://cgj.sz.gov.cn/zwgk/gzdt/content/post_11472014.html</a:t>
            </a:r>
          </a:p>
          <a:p>
            <a:r>
              <a:t>定位：深圳《已封场生活垃圾填埋场维护规范》《生活垃圾填埋场搬迁技术规范》2024-07-01生效；用于说明地方监管实践；未引用未取得全文的具体参数</a:t>
            </a:r>
          </a:p>
          <a:p>
            <a:r>
              <a:t>[B01] 《旧飞鹅垃圾填埋场场地整治情况》</a:t>
            </a:r>
          </a:p>
          <a:p/>
          <a:p>
            <a:r>
              <a:t>定位：附件第1—6页；历史封场、处理站规模、运维负荷与合同期限；场地基础资料，原始合同、批复和监测报告待核对</a:t>
            </a:r>
          </a:p>
          <a:p>
            <a:r>
              <a:t>[B02] 《大岭山旧飞鹅垃圾填埋场背景资料》</a:t>
            </a:r>
          </a:p>
          <a:p/>
          <a:p>
            <a:r>
              <a:t>定位：存量垃圾170万m³，与B01的250万m³口径存在差异；仅用于识别场地基础数据差异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417320"/>
            <a:ext cx="11000232" cy="2148840"/>
          </a:xfrm>
          <a:prstGeom prst="rect">
            <a:avLst/>
          </a:prstGeom>
          <a:solidFill>
            <a:srgbClr val="174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91440" cy="2148840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大岭山镇旧飞鹅生活垃圾填埋场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综合治理方案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镇领导专题汇报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持续控制污染源，按实际风险有序实施开挖治理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28032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急迫性与可行性  ·  工程措施与合法去向  ·  投资及实施安排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官方依据与全国案例论证版　｜　2026年10月10日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6400800"/>
            <a:ext cx="11000232" cy="0"/>
          </a:xfrm>
          <a:prstGeom prst="line">
            <a:avLst/>
          </a:prstGeom>
          <a:ln w="1270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649224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附件仅用于场地基本情况；关键官方来源及引用定位列于各页备注。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汇报导航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汇报内容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本方案结构；与Word正文同步。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02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现状与急迫任务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既有封场成果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持续水处理负荷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现行政策与管理责任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路线与污染防治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全国案例与路线比选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调查、开挖与产物去向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水气控制、监测和应急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投资与实施安排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工作包与预算依据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阶段条件与工期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验收、效益和近期任务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以风险和治理目标确定范围，以合法去向和处理能力确定作业规模。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01｜治理基础与急迫性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四项项目判断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B01；S02第7.9、8.7条；S04（十三）；S05二（四）。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03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65960"/>
          <a:ext cx="11000231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0062"/>
                <a:gridCol w="8030169"/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项目判断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具体依据与实施方向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已封场，持续治理仍需保障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资料记载2019年验收，仍有渗滤液和浓缩液负荷；后期维护义务有延续条件。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立即推进运维和调查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合同据资料至2026年12月31日；统一存量、液位、衬层、地下水及稳定情况。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分区开挖具备实践基础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全国官方现场记录支持；本场需示范验证水气负荷和所有产物接收条件。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规模开挖按条件决定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明确风险目标、稳定、设施、去向、工程量和资金程序后实施。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01｜治理基础与急迫性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既有封场成果及场地数据口径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B01第1—3页；B02存量信息。面积为历史封场整治面积。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04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47672"/>
          <a:ext cx="1100023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41"/>
                <a:gridCol w="4070085"/>
                <a:gridCol w="4950104"/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事项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资料记载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项目处理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封场及验收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2019年7月封场；12月资料记载销号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调取验收函、图纸，保留有效设施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整治面积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106845平方米，约10.68公顷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不等于可开发净面积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垃圾存量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250万与170万立方米两种口径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按测绘及基底统一；实测湿密度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监测与设施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16个堆体点位；现有水气与导排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复核数据、结构、可用率和衬层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现状风险以原始监测、现场调查和专项评估认定。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01｜治理基础与急迫性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2026年法律标准已有重要更新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S01第1242条；S02；S09；S10；S03为征求意见稿。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05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03120"/>
            <a:ext cx="265176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7685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法律依据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99232"/>
            <a:ext cx="2212848" cy="2276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生态环境法典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2026年8月15日施行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原固废等法律废止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103120"/>
            <a:ext cx="265176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填埋控制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2999232"/>
            <a:ext cx="2212848" cy="2276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GB 16889—2024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持续维护与监测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土地利用前调查评估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103120"/>
            <a:ext cx="265176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鉴别与噪声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2999232"/>
            <a:ext cx="2212848" cy="2276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GB 34330—2025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2026年3月实施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GB 12523—2025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2026年1月实施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103120"/>
            <a:ext cx="265176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575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开挖技术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999232"/>
            <a:ext cx="2212848" cy="2276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生态环境部指南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检索取得版本为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2025年征求意见稿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作为技术参考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新标准影响膜浓缩液、筛下物去向及施工噪声管理。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01｜治理基础与急迫性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急迫性来自持续负荷、合同衔接和隐患治理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B01第2—3页；S02第7.9、8.7条；S05二（四）。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06 /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84248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157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吨/日｜资料平均处理量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9067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常规名义规模180吨/日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984248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7157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吨/日｜资料膜浓缩液量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09067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接收、储存和转运独立核查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984248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12月31日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71576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2026年｜资料合同到期日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3090672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应提前安排下一周期与交接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114800"/>
            <a:ext cx="10927080" cy="1234440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43400"/>
            <a:ext cx="1046988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170÷180＝94.4%仅为名义量比。新增抽排与沥水必须先核查实际可用能力。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处理站出水达标，不能替代封场后“原渗滤液连续两年低于限值”的终止条件。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01｜治理基础与急迫性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国家要求“一场一策”，2027节点须准确适用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S04（十三）；S05二（四）；S02第8.7—8.8条。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07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行动计划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停用场系统隐患排查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建立台账、一场一策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符合条件的停用场原则上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2027年前完成封场治理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十五五规划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高风险场综合治理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加快积存渗滤液处理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治理渗漏，防止地下水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污染扩散或加重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本场落实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已封场成果继续维护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调查认定现状风险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按实际问题确定治理范围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全量开挖不设政策假定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2027年封场治理要求不是全量开挖的统一截止日。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02｜全国案例与治理路线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海南与江西：官方记录确认开挖筛分实践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C01：深圳市城管局2023年5月24日现场调研记录。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08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海南三亚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调研对象包括三亚填埋场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实地考察开挖作业现场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库区维护与设施运营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记录未披露具体场名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海口颜春岭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官方记录明确点名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考察开挖、筛分处置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了解工期及搬迁修复问题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需同步组织维护与处置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江西吉安泰和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官方记录明确地点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涉及筛分与生态修复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按实际地形和风险组织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实施过程需记录与纠偏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该记录未公布各项目投资、工程量、完成率和利润；不据此推定单价或收益。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02｜全国案例与治理路线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北京阿苏卫：固体去向与水处理配套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C02：生态环境部环保设施开放资料，2021年3月9日。均为设施配置规模。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09 /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39112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吨/日｜陈腐垃圾筛分配置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45536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不是实际日处理量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39112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3000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706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吨/日｜焚烧设施配置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145536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不代表全部用于陈腐垃圾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39112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850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706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吨/日｜渗滤液处理配置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45536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不构成本场产水系数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343400"/>
            <a:ext cx="10863072" cy="960120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53712"/>
            <a:ext cx="10378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本场借鉴：筛分、焚烧接收、污染水处理和残渣去向必须成套落实。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02｜全国案例与治理路线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治理目标与三种路线按同一条件比较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S02第7—8章；S03第4—8章；S06；本项目路线比选。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10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38528"/>
          <a:ext cx="1100023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064"/>
                <a:gridCol w="3520074"/>
                <a:gridCol w="4400092"/>
              </a:tblGrid>
              <a:tr h="8869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路线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适用条件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主要边界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A 维护强化与风险管控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污染源及风险能够持续受控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存量源仍保留，持续运维与利用限制计入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B 重点源区开挖＋维护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问题集中，局部治理可达到目标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剩余区稳定、污染边界及长期控制须证明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C 全量分区开挖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源区广或安全利用需移除堆体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全部产物去向、场底修复、资金与程序具备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重点论证B、C；A作为持续控制与全周期成本比较基准。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02｜全国案例与治理路线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规模开挖可行性由四项条件决定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S01—S03；S06；S08—S09；C01—C02；本项目实施条件。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11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03120"/>
            <a:ext cx="265176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7685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风险与稳定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99232"/>
            <a:ext cx="2212848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污染诊断和治理目标明确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边坡、坝体及场底可控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气体安全方案可执行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103120"/>
            <a:ext cx="265176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水气与空间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2999232"/>
            <a:ext cx="2212848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处理设施先行可用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调蓄、备用及集气落实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防渗分选与道路有条件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103120"/>
            <a:ext cx="265176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全部产物去向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2999232"/>
            <a:ext cx="2212848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接收许可、质量和日量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运输与备用合同落实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细料和浓缩液不遗漏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103120"/>
            <a:ext cx="265176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210312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210312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5752" y="227685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投资与程序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999232"/>
            <a:ext cx="2212848" cy="2414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实际工程量和单价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全周期资金安排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依法完成适用程序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治理前调查直接解决工程量与风险条件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S02第7.8—7.10、8.8—8.9条；S03第4章；S07；S12。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12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01952"/>
          <a:ext cx="11000231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0088"/>
                <a:gridCol w="6820143"/>
              </a:tblGrid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调查重点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具体成果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测绘、基底、湿密度和组分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统一存量；分区体积、质量、含水及各产物比例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地下水、衬层和液位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流向、背景、污染边界、积存液及实际调蓄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稳定、气体与设施工况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开挖验算、预处理范围、机械荷载及连续处理能力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末端能力与原始许可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接收质量、承诺日量、真实报价及备用合同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原始图纸、监测、合同及许可与现场测绘一并核对。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示范单元取得本场实际量质和成本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S03第5.3、6.4—6.5、8.1条；本项目示范方案。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13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前置条件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所需程序先行完成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风险和稳定已确认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水气设施可用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全部产物接收已落实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记录内容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开挖、筛分、沥水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每类产物与库存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气液负荷、能耗、人工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试接收与完整运行数据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放大设计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确定产率和持续产能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复核气液与贮存能力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建立实际单位成本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未满足条件时调整方案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示范不能替代必要审批；水气、稳定或接收异常时停止新增物料。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综合治理工艺：分区开挖与场底治理衔接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S02第8章；S03第4—8章；S06；本项目拟采用流程。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14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265176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03704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调查与诊断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26080"/>
            <a:ext cx="2212848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测绘、组分与气液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防渗、地下水与稳定</a:t>
            </a:r>
          </a:p>
        </p:txBody>
      </p:sp>
      <p:sp>
        <p:nvSpPr>
          <p:cNvPr id="16" name="Chevron 15"/>
          <p:cNvSpPr/>
          <p:nvPr/>
        </p:nvSpPr>
        <p:spPr>
          <a:xfrm>
            <a:off x="3310128" y="3291840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029968"/>
            <a:ext cx="265176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029968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2029968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2203704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预处理与控制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2926080"/>
            <a:ext cx="2212848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分区抽排降液位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气体处理与清污分流</a:t>
            </a:r>
          </a:p>
        </p:txBody>
      </p:sp>
      <p:sp>
        <p:nvSpPr>
          <p:cNvPr id="22" name="Chevron 21"/>
          <p:cNvSpPr/>
          <p:nvPr/>
        </p:nvSpPr>
        <p:spPr>
          <a:xfrm>
            <a:off x="6190488" y="3291840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029968"/>
            <a:ext cx="265176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029968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029968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203704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分区开挖筛分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536" y="2926080"/>
            <a:ext cx="2212848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小范围暴露、日终覆膜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防渗密闭分选与计量</a:t>
            </a:r>
          </a:p>
        </p:txBody>
      </p:sp>
      <p:sp>
        <p:nvSpPr>
          <p:cNvPr id="28" name="Chevron 27"/>
          <p:cNvSpPr/>
          <p:nvPr/>
        </p:nvSpPr>
        <p:spPr>
          <a:xfrm>
            <a:off x="9070848" y="3291840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2029968"/>
            <a:ext cx="2651760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2029968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2029968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2203704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分类利用处置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2926080"/>
            <a:ext cx="2212848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批次检测、密闭运输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接收回执与库存闭合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5029200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5193792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5138928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场底及地下水治理 → 效果评估 → 后期管理与依法衔接场地利用。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水系统：先核定存量和可用能力，再新增排水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B01；S02第9.2条；S03第6.1、6.4条；S08；S09。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15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38528"/>
            <a:ext cx="361188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93852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193852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112264"/>
            <a:ext cx="31912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污染水收集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834640"/>
            <a:ext cx="3172968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堆体排水、沥水与冲洗水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防渗收集与均质调蓄</a:t>
            </a:r>
          </a:p>
        </p:txBody>
      </p:sp>
      <p:sp>
        <p:nvSpPr>
          <p:cNvPr id="16" name="Chevron 15"/>
          <p:cNvSpPr/>
          <p:nvPr/>
        </p:nvSpPr>
        <p:spPr>
          <a:xfrm>
            <a:off x="4270248" y="2724912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938528"/>
            <a:ext cx="361188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93852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93852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2112264"/>
            <a:ext cx="31912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按负荷处理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2834640"/>
            <a:ext cx="3172968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现有能力经实测核定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新增设施或合法接收先行</a:t>
            </a:r>
          </a:p>
        </p:txBody>
      </p:sp>
      <p:sp>
        <p:nvSpPr>
          <p:cNvPr id="22" name="Chevron 21"/>
          <p:cNvSpPr/>
          <p:nvPr/>
        </p:nvSpPr>
        <p:spPr>
          <a:xfrm>
            <a:off x="8110728" y="2724912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1938528"/>
            <a:ext cx="361188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193852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193852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2112264"/>
            <a:ext cx="31912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处理产水纳管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4776" y="2834640"/>
            <a:ext cx="3172968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排水许可、接收合同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水质水量与应急联动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050791"/>
            <a:ext cx="3611880" cy="1517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4050791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050791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224528"/>
            <a:ext cx="31912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清洁雨水绕行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4946904"/>
            <a:ext cx="317296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截洪、防倒灌、每日巡查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4050791"/>
            <a:ext cx="3611880" cy="1517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4050791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4050791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4224528"/>
            <a:ext cx="31912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浓缩液独立计量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4296" y="4946904"/>
            <a:ext cx="317296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属性、贮存及转移条件核验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4050791"/>
            <a:ext cx="3611880" cy="1517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20" y="4050791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20" y="4050791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2" y="4224528"/>
            <a:ext cx="319125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合法末端及备用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94776" y="4946904"/>
            <a:ext cx="3172968" cy="548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批准范围、余量和接收回执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99632" y="3749039"/>
            <a:ext cx="0" cy="246889"/>
          </a:xfrm>
          <a:prstGeom prst="line">
            <a:avLst/>
          </a:prstGeom>
          <a:ln w="20320">
            <a:solidFill>
              <a:srgbClr val="146D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30352" y="5760720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" y="5925312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" y="5870448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3万立方米是调节池记载容积；实存液量和可用应急余量须现场测量。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膜浓缩液单独管理，处置技术通过本场中试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S09附录A.3 b）2）及8.1；C03，2026年3月19日科研验收信息。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16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属性与接收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膜浓缩液单独计量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核查固废与危废属性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接收批准范围和实际余量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不得默认回灌减少外运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渠道与库存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储存、防渗及液位控制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运输和接收回执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备用渠道先落实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不足时减载、停新增开挖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候选技术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深圳科研中试组合：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高效物化沉淀＋强化生化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＋PS高级氧化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本场水质验证后再比选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科研中试验收不等于本场全规模达标、成本确定或可直接替换DTRO。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气体与臭气：环境控制和人员安全分别落实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S03第6.2.1、6.2.6、6.3.6、6.4、7.3条；稿件技术参考。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17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47672"/>
          <a:ext cx="11000231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0048"/>
                <a:gridCol w="8690183"/>
              </a:tblGrid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环节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具体控制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预处理及核验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按稳定化、甲烷、含水和水位确定；停抽注24小时后核验井内甲烷&lt;5%，期限≥12天。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开挖及分选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小范围暴露、膜下抽气、及时覆膜；密闭筛分、局部集气、集中除臭及防尘。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独立安全措施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按专项安全设计确定可燃、有毒气体和氧气报警，落实职业健康、防爆与人员疏散。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5%和1%是稿件对应技术指标，不是人员进入或安全作业许可阈值。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分层开挖、低液位及场底防渗保护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S03第6.3.2—6.3.8条；S06三（五）；稿件参数为技术参考。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18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分区分层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上至下、高至低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一般层厚不超过5米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边坡与荷载专项验算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不预设整场一次挖到底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抽排与覆膜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单元水位降至底部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以下1—2米并复核稳定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坡脚导排、截洪清污分流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每日结束及时覆膜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场底与异常物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近人工衬层1米加强监控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垃圾清除后再处理衬层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无衬层区域清查污染土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异常废物隔离禁止混料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密闭筛分，所有产物先落实合法去向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S01第511条；S03第6.4—6.5条；S09。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19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57400"/>
            <a:ext cx="2651760" cy="3182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3113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轻质可燃物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53512"/>
            <a:ext cx="2212848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含水、热值等按接收条件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核对设施许可和余量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依法接收后焚烧等处置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057400"/>
            <a:ext cx="2651760" cy="3182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223113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金属与惰性物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2953512"/>
            <a:ext cx="2212848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金属按合规渠道回收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惰性物核验性能和污染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无合规出路时依法处置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057400"/>
            <a:ext cx="2651760" cy="3182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23113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筛下细料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2953512"/>
            <a:ext cx="2212848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分批检测、用途与属性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质量及实际接收工程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无合法去向不扩大开挖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057400"/>
            <a:ext cx="2651760" cy="3182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5752" y="223113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异常疑似废物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953512"/>
            <a:ext cx="2212848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立即隔离，禁止混料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依法识别与鉴别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对应许可设施规范转移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土壤筛选值达标不等于固废属性消除，更不等于可自由外运回填。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地下水和土壤治理不能被垃圾清运替代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S02第7.10、8.8条；S06；S07第41、45条；S12—S13。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20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先识别污染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水文地质、上下游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背景与污染边界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场底土壤与衬层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风险目标按调查确定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控制施工影响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发现渗漏及时查因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经论证抽提、排水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修补或阻隔等措施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防止污染扩散或加重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完成效果评估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验证场底及地下水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保留必要监测与治理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移交后期责任及资金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依法衔接后续用途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清运结束、场地平整和完成环境修复分别核验。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施工监测覆盖地下水、气液、稳定与敏感点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S03第7.2—7.4条；S02；S10第4章及表1。稿件频次为技术参考。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21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901952"/>
          <a:ext cx="11000231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0048"/>
                <a:gridCol w="8690183"/>
              </a:tblGrid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对象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拟采用监测和联动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地下水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稿件至少每周1次；结合背景、流向和异常变化加密。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甲烷和安全气体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稿件作业面1—3点、至少每日1次；&gt;1%加密；安全按专项更严控制。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恶臭和排放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稿件至少每月1次；敏感点或扰民时增设在线；许可更严时从严。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水质、液位和位移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水质及去向独立核对；开挖变化、暴雨工况加密，警戒值按设计。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施工噪声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一般场界昼70、夜55 dB(A)；特殊测点按标准对应条款评价。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03｜开挖与污染防治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异常触发停工，纠偏复核后恢复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S02第7.10条；S03第8.2条；本项目应急与复工控制。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22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892807"/>
          <a:ext cx="1100023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0078"/>
                <a:gridCol w="7260153"/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异常迹象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即时措施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气体报警、自热或稳定异常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停止危险区作业，疏散隔离；专项查因、防火或支护。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积液、外溢或处理设施失效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停新增负荷，备用抽排与合法接收，修复收集和处理系统。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末端拒收、浓缩液渠道中断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减载或停新增开挖；核验质量、库存和备用合同。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地下水加重、异常废物或扰民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查漏和隔离；按属性处置、加密监测及反馈整改。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台风、暴雨、停电或交通中断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按专项停工条件响应，保障覆膜、排洪、备用供电与运维。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04｜投资、周期与效益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既有运维费用有资料依据，开挖投资另行核定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B01第3页；本方案算术折算。合同边界以原件为准。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23 /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115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元/吨｜资料既有服务单价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18104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170×365＝62050吨/年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11680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713.6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432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万元/年｜仅按量价折算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118104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62050×115＝7135750元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4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7300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4320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吨/年｜浓缩液量级折算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18104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20×365；不是年度实绩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297680"/>
            <a:ext cx="10863072" cy="1097280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折算不是年度决算、开挖概算或确定节省额。浓缩液、维护等是否在单价内，先核合同，避免重复计费。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04｜投资、周期与效益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投资按工程量、设施与全部末端费用闭合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本方案第9章投资工作包；工程量、报价及概算待调查核定。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24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892807"/>
          <a:ext cx="11000231" cy="389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83"/>
                <a:gridCol w="7040148"/>
              </a:tblGrid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工作包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定价和控制依据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前期调查、示范及设计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明确勘测检测内容和代表性工作量；取得本场产率与成本。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开挖、分选、暂存及运输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测绘体积、实测密度、持续能力、防渗集气设施、实际路线。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水气治理及全部末端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水量水质、浓缩液、每类产物质量×合法接收单价。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土壤地下水、监测与后期维护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按实际修复范围和目标计列，清挖不等于此项为零。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其他费用、预备费及变更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65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按适用概算依据核定；合同、计量、审核和成果付款对应。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04｜投资、周期与效益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资金以公益治理支出和全周期成本安排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S04（二十三）、（二十五）；本项目资金与经济比选安排。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25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持续运维与前期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按管理责任保障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调查、监测、合同衔接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服务边界和预算明确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治理不中断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规模工程资金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按批准工程量核概算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年度支付和建设安排对应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研究符合条件的政策工具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不把政策支持等同已获资金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经济比选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建设、处置、运行与后期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按同一边界比较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收入按真实合规合同确认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土地产业收益不预设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没有合法用途和实际接收合同的回收收入，不进入资金平衡。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04｜投资、周期与效益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近期6个月安排与规模工程工期条件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本方案第10章：拟定前期安排；工程工期由批准规模和有效能力测算。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26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57400"/>
            <a:ext cx="265176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3113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第0—1个月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53512"/>
            <a:ext cx="2212848" cy="1636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运维合同衔接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检查设施和备用渠道</a:t>
            </a:r>
          </a:p>
        </p:txBody>
      </p:sp>
      <p:sp>
        <p:nvSpPr>
          <p:cNvPr id="16" name="Chevron 15"/>
          <p:cNvSpPr/>
          <p:nvPr/>
        </p:nvSpPr>
        <p:spPr>
          <a:xfrm>
            <a:off x="3310128" y="3319272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057400"/>
            <a:ext cx="265176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223113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第1—3个月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2953512"/>
            <a:ext cx="2212848" cy="1636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测绘、调查和风险评估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末端试验与路线比选</a:t>
            </a:r>
          </a:p>
        </p:txBody>
      </p:sp>
      <p:sp>
        <p:nvSpPr>
          <p:cNvPr id="22" name="Chevron 21"/>
          <p:cNvSpPr/>
          <p:nvPr/>
        </p:nvSpPr>
        <p:spPr>
          <a:xfrm>
            <a:off x="6190488" y="3319272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057400"/>
            <a:ext cx="265176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23113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第3—6个月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536" y="2953512"/>
            <a:ext cx="2212848" cy="1636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依法开展示范单元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设计、概算与必要程序</a:t>
            </a:r>
          </a:p>
        </p:txBody>
      </p:sp>
      <p:sp>
        <p:nvSpPr>
          <p:cNvPr id="28" name="Chevron 27"/>
          <p:cNvSpPr/>
          <p:nvPr/>
        </p:nvSpPr>
        <p:spPr>
          <a:xfrm>
            <a:off x="9070848" y="3319272"/>
            <a:ext cx="118872" cy="219456"/>
          </a:xfrm>
          <a:prstGeom prst="chevron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2057400"/>
            <a:ext cx="265176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5752" y="223113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批准后施工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2953512"/>
            <a:ext cx="2212848" cy="1636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按瓶颈能力安排分区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场底修复与效果评估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5120640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5285231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5230368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有效作业日 ≥ 实测垃圾质量÷可持续处理能力；日历工期另计天气、检修与修复评估。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04｜投资、周期与效益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治理后按环境效果和后期责任验收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S02第8.7—8.9条；S06；S12—S13；本项目验收安排。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27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实物与去向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清挖边界和高程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各类产物计量与接收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库存、异常及回执闭合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场底残留资料完整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环境与安全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土壤地下水目标验证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修复效果评估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残余气体和工程稳定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按适用程序分别核验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维护与利用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保留必要处理及监测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资金和主体形成移交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依法履行后续用地程序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用途及限制明确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04｜投资、周期与效益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综合效益用实际成果核验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S01；S02；S04—S06；本方案效益指标安排。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28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57400"/>
            <a:ext cx="2651760" cy="3182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31136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环境效益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53512"/>
            <a:ext cx="2212848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污染源削减与合法去向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地下水污染不扩散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水气排放合规与纠偏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057400"/>
            <a:ext cx="2651760" cy="3182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2" y="223113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社会效益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2953512"/>
            <a:ext cx="2212848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控制臭气、噪声和运输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投诉回应与闭合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人员作业风险受控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057400"/>
            <a:ext cx="2651760" cy="3182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23113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经济效益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2953512"/>
            <a:ext cx="2212848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全周期费用真实核算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减少重复建设和退运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安全利用条件依法落实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057400"/>
            <a:ext cx="2651760" cy="3182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2057400"/>
            <a:ext cx="265176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2057400"/>
            <a:ext cx="265176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5752" y="2231136"/>
            <a:ext cx="223113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治理效益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953512"/>
            <a:ext cx="2212848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一场一策实际落实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责任、资金和去向可追溯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接受依法监管和监督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以基线、称重去向、环境监测、实际合同和效果评估验证项目成果。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05｜近期工作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近期推进任务：运维保障、统一调查、末端落实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B01；S02—S05；本方案第12章工作清单。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29 / 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保障连续运行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衔接2026年末运维合同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核接收及备用渠道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检查防渗、导排和处理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风险问题即时处置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启动统一调查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调取图纸、许可与监测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测绘存量和实测密度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诊断气液、地下水及稳定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建立一场一策问题台账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029968"/>
            <a:ext cx="36118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029968"/>
            <a:ext cx="3611880" cy="67665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2029968"/>
            <a:ext cx="3611880" cy="41148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18541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2203704"/>
            <a:ext cx="26334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形成可批准工程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2926080"/>
            <a:ext cx="3172968" cy="236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所有产物试验与接收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依法开展示范单元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完成路线、专项和概算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按条件批准规模施工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650992"/>
            <a:ext cx="11128248" cy="493776"/>
          </a:xfrm>
          <a:prstGeom prst="rect">
            <a:avLst/>
          </a:prstGeom>
          <a:solidFill>
            <a:srgbClr val="EA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815583"/>
            <a:ext cx="118872" cy="118872"/>
          </a:xfrm>
          <a:prstGeom prst="rect">
            <a:avLst/>
          </a:prstGeom>
          <a:solidFill>
            <a:srgbClr val="146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760720"/>
            <a:ext cx="10497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将治理投入、作业强度和实际环境改善对应到可核验成果。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大岭山镇旧飞鹅生活垃圾填埋场｜综合治理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0" y="21945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6DA7"/>
                </a:solidFill>
                <a:latin typeface="Noto Sans CJK SC"/>
                <a:ea typeface="Noto Sans CJK SC"/>
                <a:cs typeface="Noto Sans CJK SC"/>
              </a:rPr>
              <a:t>来源索引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09728" cy="420624"/>
          </a:xfrm>
          <a:prstGeom prst="rect">
            <a:avLst/>
          </a:prstGeom>
          <a:solidFill>
            <a:srgbClr val="48A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13232"/>
            <a:ext cx="24688" cy="420624"/>
          </a:xfrm>
          <a:prstGeom prst="rect">
            <a:avLst/>
          </a:prstGeom>
          <a:solidFill>
            <a:srgbClr val="B2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694944"/>
            <a:ext cx="1079906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C58"/>
                </a:solidFill>
                <a:latin typeface="Noto Sans CJK SC"/>
                <a:ea typeface="Noto Sans CJK SC"/>
                <a:cs typeface="Noto Sans CJK SC"/>
              </a:rPr>
              <a:t>主要官方依据与案例定位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52728"/>
            <a:ext cx="11100816" cy="0"/>
          </a:xfrm>
          <a:prstGeom prst="line">
            <a:avLst/>
          </a:prstGeom>
          <a:ln w="11430">
            <a:solidFill>
              <a:srgbClr val="649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6382512"/>
            <a:ext cx="11100816" cy="0"/>
          </a:xfrm>
          <a:prstGeom prst="line">
            <a:avLst/>
          </a:prstGeom>
          <a:ln w="10160">
            <a:solidFill>
              <a:srgbClr val="D6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92240"/>
            <a:ext cx="102870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完整19项来源、官方链接和数值口径见Word附录A及依据核验表；各页备注含URL。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630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07589"/>
                </a:solidFill>
                <a:latin typeface="Noto Sans CJK SC"/>
                <a:ea typeface="Noto Sans CJK SC"/>
                <a:cs typeface="Noto Sans CJK SC"/>
              </a:rPr>
              <a:t>30 / 30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874519"/>
          <a:ext cx="1100023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053"/>
                <a:gridCol w="8470178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编号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原文及关键定位</a:t>
                      </a:r>
                    </a:p>
                  </a:txBody>
                  <a:tcPr marL="109728" marR="91440" marT="73152" marB="36576" anchor="ctr">
                    <a:solidFill>
                      <a:srgbClr val="17477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S01／S02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生态环境法典第511—513、1242条；GB16889—2024第7.8—7.10、8.7—8.9、9.2条。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S03／S04／S05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2025开挖指南征求意见稿第4—8章；行动计划（十三）；十五五规划二（四）。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S06—S10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2026修复开发衔接意见；地下水、排水条例；GB34330—2025；GB12523—2025。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S11—S13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GB36600—2018；HJ25.1—2019至HJ25.4—2019公告；HJ25.5—2018。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C01／C02／C03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海南江西官方现场调研；北京阿苏卫官方设施配置；深圳浓缩液科研中试验收。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B01／B02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C58"/>
                          </a:solidFill>
                          <a:latin typeface="Noto Sans CJK SC"/>
                          <a:ea typeface="Noto Sans CJK SC"/>
                        </a:rPr>
                        <a:t>仅采用场地基本情况；负荷截至2026年4月口径；垃圾量差异待测绘统一。</a:t>
                      </a:r>
                    </a:p>
                  </a:txBody>
                  <a:tcPr marL="109728" marR="91440" marT="73152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大岭山镇旧飞鹅生活垃圾填埋场综合治理方案｜镇领导汇报</dc:title>
  <dc:subject>现行官方依据、全国开挖案例、急迫性、可行性与项目实施措施</dc:subject>
  <dc:creator>旧飞鹅综合治理项目工作稿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