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页｜旧飞鹅垃圾填埋场开挖综合治理</a:t>
            </a:r>
          </a:p>
          <a:p/>
          <a:p>
            <a:r>
              <a:t>讲解提示：</a:t>
            </a:r>
          </a:p>
          <a:p>
            <a:r>
              <a:t>用一句话说明本轮建议：立即做前期和风险保障，规模工程待四项条件齐备后再决定。整个汇报围绕问题、方案、钱、风险和本轮决策五条线展开，正文建议12—15分钟，附录用于问答。</a:t>
            </a:r>
          </a:p>
          <a:p/>
          <a:p>
            <a:r>
              <a:t>依据与核验：</a:t>
            </a:r>
          </a:p>
          <a:p>
            <a:r>
              <a:t>可研领导摘要及第15章。报告由已读取八份附件及独立测算形成；玉龙官方投资与进展尚待核验。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页｜治理应尽快谋划，规模开挖须具备四项条件</a:t>
            </a:r>
          </a:p>
          <a:p/>
          <a:p>
            <a:r>
              <a:t>讲解提示：</a:t>
            </a:r>
          </a:p>
          <a:p>
            <a:r>
              <a:t>数字均来自概念阶段模型。10.87亿元是新增治理投资；20.80亿元是含两个产业方向的一体化筹资需求。约60个月是工程组织建议，不是合同承诺。0.41是70%贷款方案稳态DSCR，显示还款能力不足。四项条件须同时成立。</a:t>
            </a:r>
          </a:p>
          <a:p/>
          <a:p>
            <a:r>
              <a:t>依据与核验：</a:t>
            </a:r>
          </a:p>
          <a:p>
            <a:r>
              <a:t>可研摘要、第5、10、11、14章；模型base_environment.total、finance.dscr。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页｜封场已有成果，后续产污与运维责任仍在</a:t>
            </a:r>
          </a:p>
          <a:p/>
          <a:p>
            <a:r>
              <a:t>讲解提示：</a:t>
            </a:r>
          </a:p>
          <a:p>
            <a:r>
              <a:t>S1记载1996年投用、2019年7月1日封场，2019年整改和销号验收有具体日期线索。不能否定过去成果，也不能据达标描述认定地下水从未受影响。日均水量170吨、浓缩液20吨、常规处理180吨均为资料线索，须核对当前台账。当前日期2026年10月10日，到资料所列年末合同到期不足三个月，应立即核对是否已续签，防止出现运行空档。</a:t>
            </a:r>
          </a:p>
          <a:p/>
          <a:p>
            <a:r>
              <a:t>依据与核验：</a:t>
            </a:r>
          </a:p>
          <a:p>
            <a:r>
              <a:t>S1第1页封场；第2—3页设施、170吨/日、180/300吨/日、115元/吨和合同期限；第3—4页浓缩液。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页｜必要性在于减源控险，急迫性在于先把风险查清</a:t>
            </a:r>
          </a:p>
          <a:p/>
          <a:p>
            <a:r>
              <a:t>讲解提示：</a:t>
            </a:r>
          </a:p>
          <a:p>
            <a:r>
              <a:t>必要性不是因为某份资料写了未经核实的风险等级，而是持续的水气管理责任、历史填埋的不确定性、土地安全利用条件和周边公共环境诉求。急迫的是保障当前运行与开展调查，不能用未经证明的随时垮塌或数百吨直排制造紧迫性。汛期和台风前需检查膜面、截洪、有效库容、备用泵和电源。</a:t>
            </a:r>
          </a:p>
          <a:p/>
          <a:p>
            <a:r>
              <a:t>依据与核验：</a:t>
            </a:r>
          </a:p>
          <a:p>
            <a:r>
              <a:t>可研第2—3章；S1、S2背景资料与S4初步方案。S2风险分级表述未有原件支持，不作为正式风险认定。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页｜先统一工程量与边界，避免用低值锁定总价</a:t>
            </a:r>
          </a:p>
          <a:p/>
          <a:p>
            <a:r>
              <a:t>讲解提示：</a:t>
            </a:r>
          </a:p>
          <a:p>
            <a:r>
              <a:t>S1封场工程占地106845平方米约160.27亩；S2与S4谋划280亩。前者为工程边界，后者为设想边界，不能直接认定280亩合法工业地。体积170、250、260万立方米三种口径并列。模型选250万，湿密度0.85吨/立方米得到212.5万吨；两者均须实测。水站能力采用S1常规180、应急300，不采用未核实500。</a:t>
            </a:r>
          </a:p>
          <a:p/>
          <a:p>
            <a:r>
              <a:t>依据与核验：</a:t>
            </a:r>
          </a:p>
          <a:p>
            <a:r>
              <a:t>可研第2.3与10.1节；S1第1—3页、S2/S4、S3。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页｜综合效益明确，但公共价值应与经营收益分别核算</a:t>
            </a:r>
          </a:p>
          <a:p/>
          <a:p>
            <a:r>
              <a:t>讲解提示：</a:t>
            </a:r>
          </a:p>
          <a:p>
            <a:r>
              <a:t>环境效益用核定移除量、污染羽变化、法定监测和物料联单验证，不能承诺零风险。350—550个岗位为16万平方米产业空间的研究区间，并无签约招聘。现状运维模型约1082.58万元/年，假设治理后保留150万元，避免约932.58万元；20年4.5%现值约1.21亿元，远小于10.87亿元治理投资，且早期地下水成本可能更高。这不是项目公司营业收入。政治效益是依法履责、透明采购、不新增隐性债务与回应群众关切。</a:t>
            </a:r>
          </a:p>
          <a:p/>
          <a:p>
            <a:r>
              <a:t>依据与核验：</a:t>
            </a:r>
          </a:p>
          <a:p>
            <a:r>
              <a:t>可研第11.5、12章。170吨/日×115元/吨来自S1；浓缩液单价300元/吨和其他费用为假设。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页｜分区全量开挖作为目标路线，前提不足时继续补强</a:t>
            </a:r>
          </a:p>
          <a:p/>
          <a:p>
            <a:r>
              <a:t>讲解提示：</a:t>
            </a:r>
          </a:p>
          <a:p>
            <a:r>
              <a:t>A与B没有可靠工程量和询价，本汇报不虚构二者报价。C适应移除污染源与改善安全利用条件目标，但不是所有填埋场唯一合规方案。先查明保护区等空间约束；如产业禁建，需要调整用途或移出产业，继续研究生态治理。无足够接收和资金，现状补强不可中断。</a:t>
            </a:r>
          </a:p>
          <a:p/>
          <a:p>
            <a:r>
              <a:t>依据与核验：</a:t>
            </a:r>
          </a:p>
          <a:p>
            <a:r>
              <a:t>可研第5与6.1节；S6征求意见稿、S8山东试行导则均为技术参考，不替代广东现行审批依据。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页｜借鉴玉龙的治理组织，成本与盈利须独立论证</a:t>
            </a:r>
          </a:p>
          <a:p/>
          <a:p>
            <a:r>
              <a:t>讲解提示：</a:t>
            </a:r>
          </a:p>
          <a:p>
            <a:r>
              <a:t>玉龙资料来自用户提供二次对标材料，不是本次取得的官方原始证据。建安15.38亿元与总投资21.7亿元也不是同一口径。21.7亿元除以255.15万立方米约850元/立方米；旧飞鹅模型约435元/立方米，差异可能来自治理范围、密度、筛下物去向、规格和遗漏风险。不能用差值宣传节省一半。拟采用模块密闭、集中筛分而不照搬超大跨度天幕。尚无玉龙经营现金流证据支持EOD盈利结论。</a:t>
            </a:r>
          </a:p>
          <a:p/>
          <a:p>
            <a:r>
              <a:t>依据与核验：</a:t>
            </a:r>
          </a:p>
          <a:p>
            <a:r>
              <a:t>可研第4章；S3第6—8、19—20页。外部官方检索在原报告编制时被网络政策限制，未核验最新状态。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页｜环保设施先建成，垃圾按分区、分层、分批治理</a:t>
            </a:r>
          </a:p>
          <a:p/>
          <a:p>
            <a:r>
              <a:t>讲解提示：</a:t>
            </a:r>
          </a:p>
          <a:p>
            <a:r>
              <a:t>处理前抽排降低液位，气体与温度检测、稳定性分析通过才揭膜。好氧是否采用和时长由试验验证，不能固定吹气天数替代检测。密闭筛分设在稳定可用平台，开挖区用可迁移罩棚或经论证的局部集气。所有产物检测后依法去向，异常危废隔离鉴别。清场后土壤地下水治理和建筑地基验收分别实施。</a:t>
            </a:r>
          </a:p>
          <a:p/>
          <a:p>
            <a:r>
              <a:t>依据与核验：</a:t>
            </a:r>
          </a:p>
          <a:p>
            <a:r>
              <a:t>可研第6—9章；S6第4—10页与S8第8—19页。图为本汇报概念示意。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页｜筛下物约占55%，合规去向是规模开挖的关键</a:t>
            </a:r>
          </a:p>
          <a:p/>
          <a:p>
            <a:r>
              <a:t>讲解提示：</a:t>
            </a:r>
          </a:p>
          <a:p>
            <a:r>
              <a:t>四类合计212.5万吨。可燃53.125、筛下116.875、无机40.375、金属2.125万吨。筛下物60%利用、40%其他许可处置属于经济模型条件，不是已认证资源化率或接收事实。利用率从60%降至30%，直接成本增加7012.5万元，计其他费预备费增加約8709.5万元。现场必须按含水率、排出水和库存变化校正湿质量守恒；覆盖土与基底污染土另建台账。</a:t>
            </a:r>
          </a:p>
          <a:p/>
          <a:p>
            <a:r>
              <a:t>依据与核验：</a:t>
            </a:r>
          </a:p>
          <a:p>
            <a:r>
              <a:t>可研第6.4、10.4节；模型base_environment.rows。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页｜产能看末端接收，工期取决于整个处置链条</a:t>
            </a:r>
          </a:p>
          <a:p/>
          <a:p>
            <a:r>
              <a:t>讲解提示：</a:t>
            </a:r>
          </a:p>
          <a:p>
            <a:r>
              <a:t>两线150吨/小时×16×70%=3360吨/日，按250日年约84万吨；212.5/84=2.53年即30.4个月，安排M15—M48约33个月窗口仍需停工与衔接余量。260万立方米与密度1.0的情景约37.1个月纯处理。若可燃接收配额500吨/日，总量2000吨/日，年50万吨，约4.25年，接收方检修再延长。3360吨/日全部外运25吨有效载重约135单向重车车次、约270往返通行，路线需实测。</a:t>
            </a:r>
          </a:p>
          <a:p/>
          <a:p>
            <a:r>
              <a:t>依据与核验：</a:t>
            </a:r>
          </a:p>
          <a:p>
            <a:r>
              <a:t>可研第6.3与8.4节。参数为方案研究值，未取得厂家报价与末端配额。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页｜治理前先做三轮核查，把未知条件转为可审成果</a:t>
            </a:r>
          </a:p>
          <a:p/>
          <a:p>
            <a:r>
              <a:t>讲解提示：</a:t>
            </a:r>
          </a:p>
          <a:p>
            <a:r>
              <a:t>0—3个月：运行责任人、续运采购、膜面与盲沟检查、调节池有效库容测量，建立一张底图六本台账。3—6个月：测绘、钻探、分层湿密度与组分，地下水上下游和背景点，岩土验算，敏感受体调查；代表性中试先获审批安全放行。6—12个月：环评等按实际类别依法确定，不能沿用旧封场环评替代开挖审查；接收试验、连续配额、拒收备用、价格条款和独立计量均要落到合同。核心租约和股东出资不能只是意向。</a:t>
            </a:r>
          </a:p>
          <a:p/>
          <a:p>
            <a:r>
              <a:t>依据与核验：</a:t>
            </a:r>
          </a:p>
          <a:p>
            <a:r>
              <a:t>可研第7章。0.5—1万立方米为首批累计中试建议，不是无条件现场指令。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页｜治理中守住水、气、坡、运四条控制线</a:t>
            </a:r>
          </a:p>
          <a:p/>
          <a:p>
            <a:r>
              <a:t>讲解提示：</a:t>
            </a:r>
          </a:p>
          <a:p>
            <a:r>
              <a:t>水：名义30000立方米不等于剩余库容，180吨日不等于施工净余量；用当地降雨及最不利工况设计。气：甲烷、硫化氢、氧气、温度连续检测，仪表区分LEL百分比与体积分数；现场阈值由专业核定，不能照抄征求意见稿数值。坡：不掏空坡脚，不在承载不明区堆料，趋势异常可提前停工。运：双端计量和联单核验接收，学校居民避让、车辆载荷路线实测。停工责任人、恢复签认与举报记录写入合同。</a:t>
            </a:r>
          </a:p>
          <a:p/>
          <a:p>
            <a:r>
              <a:t>依据与核验：</a:t>
            </a:r>
          </a:p>
          <a:p>
            <a:r>
              <a:t>可研第8、13章；S6与S8为技术参考。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页｜治理后分四步交付，地下水责任按目标持续</a:t>
            </a:r>
          </a:p>
          <a:p/>
          <a:p>
            <a:r>
              <a:t>讲解提示：</a:t>
            </a:r>
          </a:p>
          <a:p>
            <a:r>
              <a:t>清场不代表污染物全部移除；基底详细调查按未来用途提出修复或管控目标，地下水污染羽可能需要多年跟踪。洁净回填与地基验算不能用检测合格筛下物直接替代。冷库、物流车辆和加工设备荷载须按岩土条件设计。达到环境目标后，用地规划建筑消防还要依法许可。与责任主体签署跟踪与资金安排，不能因产业运营就终止监测。</a:t>
            </a:r>
          </a:p>
          <a:p/>
          <a:p>
            <a:r>
              <a:t>依据与核验：</a:t>
            </a:r>
          </a:p>
          <a:p>
            <a:r>
              <a:t>可研第9及第14章。图为交付逻辑示意，不代替批准验收程序。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页｜治理投资约10.87亿元，分类处置成本最高</a:t>
            </a:r>
          </a:p>
          <a:p/>
          <a:p>
            <a:r>
              <a:t>讲解提示：</a:t>
            </a:r>
          </a:p>
          <a:p>
            <a:r>
              <a:t>分组并未改变原模型：预处理8750+开挖8750万元，筛分17000，产物外运处置33872.5，密闭6200+水设施2500+临设1800+水运行3000=13500，土壤2275+地下水1600=3875，调查800+监测1000=1800，直接87547.5万元。其他按8%=7003.8，预备按直接加其他的15%=14182.695，总108733.995万元。四舍五入图中各项可能出现0.01差额。大规模危废等重大事项不保证由15%全部覆盖。</a:t>
            </a:r>
          </a:p>
          <a:p/>
          <a:p>
            <a:r>
              <a:t>依据与核验：</a:t>
            </a:r>
          </a:p>
          <a:p>
            <a:r>
              <a:t>可研第10.2节；model_results.json base_environment。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页｜一体化筹资约20.80亿元，规模与融资方案需重构</a:t>
            </a:r>
          </a:p>
          <a:p/>
          <a:p>
            <a:r>
              <a:t>讲解提示：</a:t>
            </a:r>
          </a:p>
          <a:p>
            <a:r>
              <a:t>冷链12万平方米×4800元=57600万元，沉香4万×3300=13200，配套6000，总76800。土地10000、利息9500、流动3000均暂列。筹资208033.995，评价投资剔除利息198533.995。小体量170万立方米保持其他不变18.086亿；压力260万、密度1.0、利用率30%、变动单价+20%=25.580亿，还不是最坏封顶。20亿来自S5原则，不等于自动拒绝或批准，需要主管和银行确认；避免拆分规避。</a:t>
            </a:r>
          </a:p>
          <a:p/>
          <a:p>
            <a:r>
              <a:t>依据与核验：</a:t>
            </a:r>
          </a:p>
          <a:p>
            <a:r>
              <a:t>可研第10.3—10.5节；S5通知；模型scenarios。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页｜年收入约1.12亿元，稳态可偿债现金流约4175万元</a:t>
            </a:r>
          </a:p>
          <a:p/>
          <a:p>
            <a:r>
              <a:t>讲解提示：</a:t>
            </a:r>
          </a:p>
          <a:p>
            <a:r>
              <a:t>冷链12万平方米×75%可计费×85%出租×3元平方米日×365=8376.75万元；3元是含基础服务的收费假设，相应成本率55%，不可当纯房屋租金省略电费。沉香4万×80%×85%×30元平方米月×12=979.2；增值服务1800须防重复计费。现金支出6469.93含管理与环境运维，EBITDA4686.02；简税211.50、维护300后CFADS4174.51。税务模型未完整，不能支持正式授信。租户产值和政府税收不等于项目公司收入。</a:t>
            </a:r>
          </a:p>
          <a:p/>
          <a:p>
            <a:r>
              <a:t>依据与核验：</a:t>
            </a:r>
          </a:p>
          <a:p>
            <a:r>
              <a:t>可研第11.1节；model_results.json finance.steady。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页｜70%贷款方案不能成立，降低贷款比例也不等于盈利</a:t>
            </a:r>
          </a:p>
          <a:p/>
          <a:p>
            <a:r>
              <a:t>讲解提示：</a:t>
            </a:r>
          </a:p>
          <a:p>
            <a:r>
              <a:t>拟贷70%×20.8034亿元=14.5624亿元；3.5%、20年年本息1.0246亿。稳态4174.51÷10246.25=0.4074；首年2904.84÷10246.25=0.2835。目标DSCR1.3下，稳态本金4.5638亿、首年3.1757亿。FIRR=-4.4241%、FNPV6%=-12.7277亿，建设5年运营20年，20年运营内未回收。评价剔除9500万融资利息，末年计产业20%残值和流动回收，不计土地升值。减少贷款改善偿债但不改善整体投入回报，非债资金也需要合法来源和可接受回报。</a:t>
            </a:r>
          </a:p>
          <a:p/>
          <a:p>
            <a:r>
              <a:t>依据与核验：</a:t>
            </a:r>
          </a:p>
          <a:p>
            <a:r>
              <a:t>可研第11.2—11.4节；财务模型finance。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页｜先落实公益责任与资产条件，再选择融资路径</a:t>
            </a:r>
          </a:p>
          <a:p/>
          <a:p>
            <a:r>
              <a:t>讲解提示：</a:t>
            </a:r>
          </a:p>
          <a:p>
            <a:r>
              <a:t>整体EOD须有经营收益与真实资本金，不能仅因央企愿意参与、银行初步对接就宣称融资落实。S5原则不政府付费、不将土地出让和未来税收等作收入，主体要求应依法核查。依法预算安排公益治理是另一研究路径，须明晰污染责任、资金使用、资产和借款边界，不可通过形式拆分规避原整体限制。任何建设补助先确认制度适用、金额和主体，不预设基准还款收入。正式门槛是股东出资证明、主要产物价格接收合同、空间用地、核心运营商和逐年资金平衡。</a:t>
            </a:r>
          </a:p>
          <a:p/>
          <a:p>
            <a:r>
              <a:t>依据与核验：</a:t>
            </a:r>
          </a:p>
          <a:p>
            <a:r>
              <a:t>可研第10.5与11.4节；S5第2—5、12页，现行执行口径需核对。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页｜工程约60个月，运营达产按模型第8年检验</a:t>
            </a:r>
          </a:p>
          <a:p/>
          <a:p>
            <a:r>
              <a:t>讲解提示：</a:t>
            </a:r>
          </a:p>
          <a:p>
            <a:r>
              <a:t>原可研工程建议M15—M48规模处理、M42—M60产业建设、M48—M72投运招商安排；工程完成与市场达产应分开。本汇报与财务模型明确统一：5年建设，第6年运营60%出租，第7年75%，第8年85%稳态，因此展示运营验证延伸M84，不能承诺M72已稳态。M60是方案组织目标，不是合同完工保证；投运可按合规地块分期，但未正式重算先行收入。地下水可超出84个月，由风险目标和批准期限决定。</a:t>
            </a:r>
          </a:p>
          <a:p/>
          <a:p>
            <a:r>
              <a:t>依据与核验：</a:t>
            </a:r>
          </a:p>
          <a:p>
            <a:r>
              <a:t>可研第14章与财务模型finance.ops。时间图为建议排程，非已批准施工进度计划。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页｜把六类关键风险设成门槛，并明确触发后的动作</a:t>
            </a:r>
          </a:p>
          <a:p/>
          <a:p>
            <a:r>
              <a:t>讲解提示：</a:t>
            </a:r>
          </a:p>
          <a:p>
            <a:r>
              <a:t>完整可研另列台风、火灾、运输事故、地基沉降、地下水污染扩大、施工索赔等19类风险，本页聚焦领导决策六类。风险分级不引用附件未经核实的六级等说法。专业阈值由批准设计、适用法规、仪表和现场基线确定；异常记录、停工权限、恢复签认和变更审查要有明确责任人。资本金与经营条件不足时暂停规模开工而非借政府保底解决。</a:t>
            </a:r>
          </a:p>
          <a:p/>
          <a:p>
            <a:r>
              <a:t>依据与核验：</a:t>
            </a:r>
          </a:p>
          <a:p>
            <a:r>
              <a:t>可研第13章风险表及第14.3节组织采购。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页｜本轮建议：批准前期论证，四项成果齐备后再决策</a:t>
            </a:r>
          </a:p>
          <a:p/>
          <a:p>
            <a:r>
              <a:t>讲解提示：</a:t>
            </a:r>
          </a:p>
          <a:p>
            <a:r>
              <a:t>向领导请求的是调查论证及现状保障工作方案，不是批准10.87或20.80亿元总投资，更不是政府担保。800万元是概念暂列，采购和分期支付按权限与成果，已包含在治理概算调查项目中，不追加重复计入。若试开挖需永久密闭或水设施，纳入经批准工程包，不能用800万元概括全部建设。建议专班由生态环境、城管、自然资源、水务、财政、经发、属地协同，依法确定申报和实施主体。四成果齐备后再做镇市级决策。</a:t>
            </a:r>
          </a:p>
          <a:p/>
          <a:p>
            <a:r>
              <a:t>依据与核验：</a:t>
            </a:r>
          </a:p>
          <a:p>
            <a:r>
              <a:t>可研领导摘要、第7、14.3、15章；模型治理第1行调查勘察检测与中试800万元。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23 页｜附录一｜关键假设公开，正式立项前逐项替换</a:t>
            </a:r>
          </a:p>
          <a:p/>
          <a:p>
            <a:r>
              <a:t>讲解提示：</a:t>
            </a:r>
          </a:p>
          <a:p>
            <a:r>
              <a:t>参数使用的透明假设不是已批准规模。关联土地280亩总价1亿元未经评估，产业总面积16万平方米未经规划和招商证明；还要核实电力、道路、特殊地基和制冷成本。其他费8%、基本预备费15%，筛分80元/吨、可燃运输80+处置180元/吨等均待询价。正式银行模型需补完整增值税、附加税、土地税、折旧摊销和亏损结转等。</a:t>
            </a:r>
          </a:p>
          <a:p/>
          <a:p>
            <a:r>
              <a:t>依据与核验：</a:t>
            </a:r>
          </a:p>
          <a:p>
            <a:r>
              <a:t>可研第10—11章及附录B；配套Excel所有输入与公式可追溯。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24 页｜附录二｜领导常问的四个问题</a:t>
            </a:r>
          </a:p>
          <a:p/>
          <a:p>
            <a:r>
              <a:t>讲解提示：</a:t>
            </a:r>
          </a:p>
          <a:p>
            <a:r>
              <a:t>可补充回答：是否只做生态修复？需叠合法定空间边界，严管区产业可能不允许，治理路径和资金重新论证。能否获美丽广东金融库支持？符合条件仍需主管审核与银行独立授信，不能承诺必获。是否多借更久就解决？宽限和期限调整可能改善短期现金流，但无法自动改善整体投资回报。费用节省933万元/年能否还贷？属于原责任主体费用效益，不能无合法安排计入项目公司收入。</a:t>
            </a:r>
          </a:p>
          <a:p/>
          <a:p>
            <a:r>
              <a:t>依据与核验：</a:t>
            </a:r>
          </a:p>
          <a:p>
            <a:r>
              <a:t>可研第4、5、9、11及15章。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25 页｜附录三｜资料定位与补证清单</a:t>
            </a:r>
          </a:p>
          <a:p/>
          <a:p>
            <a:r>
              <a:t>讲解提示：</a:t>
            </a:r>
          </a:p>
          <a:p>
            <a:r>
              <a:t>来源完整名称：S1《旧飞鹅垃圾填埋场场地整治情况》7页；S2《大岭山旧飞鹅垃圾填埋场背景资料》DOCX；S3《东莞大岭山垃圾填埋场项目现状、初步治理方案暨与深圳玉龙垃圾填埋场处理技术的借鉴意义》29页；S4《旧飞鹅垃圾填埋场利用初步设计方案—环境治理部分》DOCX；S5广东省生态环境厅美丽广东金融项目库通知，粤环函〔2025〕147号，13页；S6《生活垃圾填埋场开挖治理污染防治技术指南（征求意见稿）》10页；S7编制说明3页；S8山东2023年10月《生活垃圾填埋场开挖分选治理技术导则（试行）》19页。S9横岗EOD PPT因超单文件传输上限未读取，未采用。图为S1第3页节选，不能替代原始有效合同与现状检测。优先补证工程量污染实测、全部产物报价去向、真实产业合同和资金条件。</a:t>
            </a:r>
          </a:p>
          <a:p/>
          <a:p>
            <a:r>
              <a:t>依据与核验：</a:t>
            </a:r>
          </a:p>
          <a:p>
            <a:r>
              <a:t>可研第1.2节及附录A、C。所有自绘图示为概念示意，未使用虚构场地照片。</a:t>
            </a:r>
          </a:p>
          <a:p/>
          <a:p>
            <a:r>
              <a:t>口径：本汇报为概念阶段决策咨询，不替代报批可研、专项设计、风险评估或银行审贷。附件事实、案例线索与测算假设须分别说明。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大岭山镇旧飞鹅填埋场  /  镇领导专题汇报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67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旧飞鹅垃圾填埋场开挖综合治理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2F5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01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424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先摸清底数、守住风险，再决定规模开挖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必要性与可行性  ·  技术与资金路径  ·  近期决策建议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108960"/>
            <a:ext cx="1865376" cy="29260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140964"/>
            <a:ext cx="17007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概念阶段 · 决策咨询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汇报日期：2026年10月10日</a:t>
            </a:r>
          </a:p>
        </p:txBody>
      </p:sp>
      <p:sp>
        <p:nvSpPr>
          <p:cNvPr id="13" name="Freeform 12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1"/>
                </a:move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7" y="0"/>
                </a:lnTo>
                <a:lnTo>
                  <a:pt x="8" y="0"/>
                </a:lnTo>
                <a:lnTo>
                  <a:pt x="10" y="1"/>
                </a:lnTo>
                <a:lnTo>
                  <a:pt x="13" y="1"/>
                </a:lnTo>
                <a:lnTo>
                  <a:pt x="13" y="2"/>
                </a:lnTo>
                <a:close/>
              </a:path>
            </a:pathLst>
          </a:custGeom>
          <a:solidFill>
            <a:srgbClr val="294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3" h="2">
                <a:moveTo>
                  <a:pt x="0" y="2"/>
                </a:moveTo>
                <a:lnTo>
                  <a:pt x="0" y="1"/>
                </a:lnTo>
                <a:lnTo>
                  <a:pt x="2" y="1"/>
                </a:lnTo>
                <a:lnTo>
                  <a:pt x="4" y="1"/>
                </a:lnTo>
                <a:lnTo>
                  <a:pt x="6" y="0"/>
                </a:lnTo>
                <a:lnTo>
                  <a:pt x="7" y="1"/>
                </a:lnTo>
                <a:lnTo>
                  <a:pt x="9" y="1"/>
                </a:lnTo>
                <a:lnTo>
                  <a:pt x="11" y="1"/>
                </a:lnTo>
                <a:lnTo>
                  <a:pt x="13" y="1"/>
                </a:lnTo>
                <a:lnTo>
                  <a:pt x="13" y="2"/>
                </a:lnTo>
                <a:close/>
              </a:path>
            </a:pathLst>
          </a:custGeom>
          <a:solidFill>
            <a:srgbClr val="3D6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22960" y="5303520"/>
            <a:ext cx="2834640" cy="0"/>
          </a:xfrm>
          <a:prstGeom prst="line">
            <a:avLst/>
          </a:prstGeom>
          <a:ln w="38100">
            <a:solidFill>
              <a:srgbClr val="70B1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57600" y="4919472"/>
            <a:ext cx="1371600" cy="384048"/>
          </a:xfrm>
          <a:prstGeom prst="line">
            <a:avLst/>
          </a:prstGeom>
          <a:ln w="38100">
            <a:solidFill>
              <a:srgbClr val="70B1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4919472"/>
            <a:ext cx="1554480" cy="521208"/>
          </a:xfrm>
          <a:prstGeom prst="line">
            <a:avLst/>
          </a:prstGeom>
          <a:ln w="38100">
            <a:solidFill>
              <a:srgbClr val="70B1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800" y="4681728"/>
            <a:ext cx="0" cy="576072"/>
          </a:xfrm>
          <a:prstGeom prst="line">
            <a:avLst/>
          </a:prstGeom>
          <a:ln w="25400">
            <a:solidFill>
              <a:srgbClr val="B0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755648" y="4617720"/>
            <a:ext cx="146304" cy="146304"/>
          </a:xfrm>
          <a:prstGeom prst="ellipse">
            <a:avLst/>
          </a:prstGeom>
          <a:solidFill>
            <a:srgbClr val="B0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017520" y="4681728"/>
            <a:ext cx="0" cy="576072"/>
          </a:xfrm>
          <a:prstGeom prst="line">
            <a:avLst/>
          </a:prstGeom>
          <a:ln w="25400">
            <a:solidFill>
              <a:srgbClr val="B0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944368" y="4617720"/>
            <a:ext cx="146304" cy="146304"/>
          </a:xfrm>
          <a:prstGeom prst="ellipse">
            <a:avLst/>
          </a:prstGeom>
          <a:solidFill>
            <a:srgbClr val="B0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206240" y="4416552"/>
            <a:ext cx="0" cy="841248"/>
          </a:xfrm>
          <a:prstGeom prst="line">
            <a:avLst/>
          </a:prstGeom>
          <a:ln w="25400">
            <a:solidFill>
              <a:srgbClr val="B0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133087" y="4352544"/>
            <a:ext cx="146304" cy="146304"/>
          </a:xfrm>
          <a:prstGeom prst="ellipse">
            <a:avLst/>
          </a:prstGeom>
          <a:solidFill>
            <a:srgbClr val="B0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394960" y="4416552"/>
            <a:ext cx="0" cy="841248"/>
          </a:xfrm>
          <a:prstGeom prst="line">
            <a:avLst/>
          </a:prstGeom>
          <a:ln w="25400">
            <a:solidFill>
              <a:srgbClr val="B0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321808" y="4352544"/>
            <a:ext cx="146304" cy="146304"/>
          </a:xfrm>
          <a:prstGeom prst="ellipse">
            <a:avLst/>
          </a:prstGeom>
          <a:solidFill>
            <a:srgbClr val="B0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68172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污染源治理 → 安全利用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61888"/>
            <a:ext cx="9144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图示为治理概念示意，非现状测绘或已获批设计。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01  核心判断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治理应尽快谋划，规模开挖须具备四项条件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建议本轮批准前期调查论证；规模工程待四项条件落实后另行决策。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575304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41148" cy="2084831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212848"/>
            <a:ext cx="259689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必要性成立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07792"/>
            <a:ext cx="3136392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封场后仍持续产污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移除污染源有长期价值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2011680"/>
            <a:ext cx="3575304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2011680"/>
            <a:ext cx="41148" cy="2084831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21671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12848"/>
            <a:ext cx="259689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技术有条件可行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07792"/>
            <a:ext cx="3136392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分区密闭、分类处置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设施与接收先于开挖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2011680"/>
            <a:ext cx="3575304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2011680"/>
            <a:ext cx="41148" cy="2084831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16712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2212848"/>
            <a:ext cx="259689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资金尚未闭合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907792"/>
            <a:ext cx="3136392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现有产业收益不足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整体融资方案需重构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89704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治理投资约 10.87 亿元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89704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工程约 60 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448970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偿债覆盖仅 0.41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四项条件：空间合规  ·  污染可控  ·  全部产物可接收  ·  资金闭合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02  现状与必要性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封场已有成果，后续产污与运维责任仍在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2019年封场整治应继续巩固；长期水、气和堆体管理需要新的系统安排。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来源：S1《场地整治情况》第1—4页；合同、监测及验收原件待补证。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03 / 25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048256"/>
            <a:ext cx="201168" cy="201168"/>
          </a:xfrm>
          <a:prstGeom prst="ellipse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1996年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8094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开始填埋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2048256"/>
            <a:ext cx="201168" cy="201168"/>
          </a:xfrm>
          <a:prstGeom prst="ellipse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487168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2019年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98094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封场整治</a:t>
            </a:r>
          </a:p>
        </p:txBody>
      </p:sp>
      <p:sp>
        <p:nvSpPr>
          <p:cNvPr id="15" name="Oval 14"/>
          <p:cNvSpPr/>
          <p:nvPr/>
        </p:nvSpPr>
        <p:spPr>
          <a:xfrm>
            <a:off x="7543800" y="2048256"/>
            <a:ext cx="201168" cy="201168"/>
          </a:xfrm>
          <a:prstGeom prst="ellipse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487168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当前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98094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持续运行与监测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0704" y="2148840"/>
            <a:ext cx="8695944" cy="0"/>
          </a:xfrm>
          <a:prstGeom prst="line">
            <a:avLst/>
          </a:prstGeom>
          <a:ln w="25400">
            <a:solidFill>
              <a:srgbClr val="0B7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3694176"/>
            <a:ext cx="11091672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67912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170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994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吨/日  日均渗滤液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7433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持续收集与处理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867912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99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吨/日  浓缩液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974336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须落实合规外运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867912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180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99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吨/日  常规处理能力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74336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能力不等于净余量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现有合同资料记载至2026年12月31日，应优先核对续运安排。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02  现状与必要性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必要性在于减源控险，急迫性在于先把风险查清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把现实运维压力、空间约束和群众影响纳入同一治理安排。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84248"/>
            <a:ext cx="5458968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84248"/>
            <a:ext cx="41148" cy="152704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396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185416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环境责任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80360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持续产污需处理，污染迁移需跟踪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984248"/>
            <a:ext cx="5458968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984248"/>
            <a:ext cx="41148" cy="152704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1396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3" y="2185416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场地安全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880360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液位、气体、边坡与基底情况需查清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94176"/>
            <a:ext cx="5458968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94176"/>
            <a:ext cx="41148" cy="152704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3895344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土地安全利用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590288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清场、残污治理与地基验收缺一不可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694176"/>
            <a:ext cx="5458968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94176"/>
            <a:ext cx="41148" cy="152704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3" y="3895344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群众与公共治理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4590288"/>
            <a:ext cx="502005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水气影响、运输扰动与信息公开并重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立即做：核对续运、排查设施、测清工程量与空间边界、验证产物去向。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02  现状与必要性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先统一工程量与边界，避免用低值锁定总价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工程量、土地范围和设施能力三类冲突，将直接改变方案与资金需求。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来源：S1—S4。250万m³为模型基准，未进行现场实测。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存量垃圾体积：三种资料口径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919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S2 / S4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724912"/>
            <a:ext cx="2391507" cy="320040"/>
          </a:xfrm>
          <a:prstGeom prst="rect">
            <a:avLst/>
          </a:prstGeom>
          <a:solidFill>
            <a:srgbClr val="62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0659" y="2670048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170万m³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643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S1 · 基准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3502151"/>
            <a:ext cx="3516923" cy="32004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6075" y="3447288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250万m³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3367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S3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4279392"/>
            <a:ext cx="3657600" cy="320040"/>
          </a:xfrm>
          <a:prstGeom prst="rect">
            <a:avLst/>
          </a:prstGeom>
          <a:solidFill>
            <a:srgbClr val="B38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4224528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260万m³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1947672"/>
            <a:ext cx="4251960" cy="14996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1947672"/>
            <a:ext cx="41148" cy="149961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4" y="2148840"/>
            <a:ext cx="3831335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土地须叠图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843784"/>
            <a:ext cx="3813048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约160亩工程范围 ≠ 280亩可开发用地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88352" y="3666744"/>
            <a:ext cx="4251960" cy="14996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88352" y="3666744"/>
            <a:ext cx="41148" cy="149961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4" y="3867911"/>
            <a:ext cx="3831335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能力须体检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4562856"/>
            <a:ext cx="3813048" cy="530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常规180 / 应急300吨日；500吨日未核实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先测绘、钻探与代表性中试；体积、湿密度、组分共同决定最终费用。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03  综合效益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综合效益明确，但公共价值应与经营收益分别核算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治理绩效以可验证结果体现；就业、现金流与运维节省按条件兑现。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06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47672"/>
            <a:ext cx="5458968" cy="1591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41148" cy="159105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148840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环境效益｜减少长期污染源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43784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分区清场、控水控气，持续跟踪地下水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947672"/>
            <a:ext cx="5458968" cy="1591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947672"/>
            <a:ext cx="41148" cy="159105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1031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3" y="2148840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社会效益｜改善周边环境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843784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运营岗位研究区间350—550个，待招商核实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94176"/>
            <a:ext cx="5458968" cy="1591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94176"/>
            <a:ext cx="41148" cy="159105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3895344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经济效益｜恢复安全使用条件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590288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运维可避免支出情景约933万元/年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694176"/>
            <a:ext cx="5458968" cy="1591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94176"/>
            <a:ext cx="41148" cy="159105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849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3" y="3895344"/>
            <a:ext cx="448055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政治治理效益｜履责与公信力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4590288"/>
            <a:ext cx="502005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巩固既有整治成果，公开监测与工程台账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运维节省属于原责任主体的费用效益；项目公司还款须有合法经营现金流。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04  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分区全量开挖作为目标路线，前提不足时继续补强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治理方式按风险、空间和去向条件比选；维护补强始终是当前底线。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07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11680"/>
          <a:ext cx="1109167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551084"/>
                <a:gridCol w="3771168"/>
                <a:gridCol w="2551084"/>
              </a:tblGrid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方案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近期作用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长期目标与局限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建议定位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A  原位封场补强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持续控水控气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堆体保留；场地利用受限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条件不足时继续实施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B  重点区域局部开挖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处置特定风险单元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保留区仍需长期维护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勘察后研究过渡路线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C  分区全量开挖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分区密闭、逐批合规处置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改善潜力较大；投资与施工风险高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四项条件通过后优先研究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推荐C须以长期风险收益、用地路径、末端消纳和完整资金覆盖共同证明。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04  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借鉴玉龙的治理组织，成本与盈利须独立论证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可复制的是环保设施先行、分区放行与分类处置机制。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案例数字：S3对标分析第6—8页，属附件线索，尚未与玉龙官方批复及结算核验。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08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56816"/>
            <a:ext cx="1901952" cy="292608"/>
          </a:xfrm>
          <a:prstGeom prst="rect">
            <a:avLst/>
          </a:prstGeom>
          <a:solidFill>
            <a:srgbClr val="B38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8882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玉龙案例 · 待官方核验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474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255.15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万m³  存量线索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21024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百万立方米级组织参考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14600"/>
            <a:ext cx="3474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21.7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46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亿元  总投资线索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21024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工程范围与价格口径待核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14600"/>
            <a:ext cx="34747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894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246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天  计划工期线索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621024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不能作为本场工期承诺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52544"/>
            <a:ext cx="3291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环保先行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8289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密闭、集气、除臭先投入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352544"/>
            <a:ext cx="3291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单元放行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8289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降液位、预处理与检测联动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352544"/>
            <a:ext cx="32918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去向闭环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882896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接收试验、合同与联单追溯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旧飞鹅治理10.87亿元是分项假设估算；现阶段不能宣称成本更低或收益已验证。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04  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环保设施先建成，垃圾按分区、分层、分批治理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推荐路线：分区密闭开挖＋集中密闭筛分＋分类合规处置＋基底与地下水治理。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09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084831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调查与预处理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测量 / 降液位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气体与稳定性验证</a:t>
            </a:r>
          </a:p>
        </p:txBody>
      </p:sp>
      <p:sp>
        <p:nvSpPr>
          <p:cNvPr id="13" name="Chevron 12"/>
          <p:cNvSpPr/>
          <p:nvPr/>
        </p:nvSpPr>
        <p:spPr>
          <a:xfrm>
            <a:off x="2642616" y="3328416"/>
            <a:ext cx="146304" cy="292608"/>
          </a:xfrm>
          <a:prstGeom prst="chevron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2514600"/>
            <a:ext cx="2084831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分区密闭开挖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自上而下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每单元检测放行</a:t>
            </a:r>
          </a:p>
        </p:txBody>
      </p:sp>
      <p:sp>
        <p:nvSpPr>
          <p:cNvPr id="18" name="Chevron 17"/>
          <p:cNvSpPr/>
          <p:nvPr/>
        </p:nvSpPr>
        <p:spPr>
          <a:xfrm>
            <a:off x="4892040" y="3328416"/>
            <a:ext cx="146304" cy="292608"/>
          </a:xfrm>
          <a:prstGeom prst="chevron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7488" y="2514600"/>
            <a:ext cx="2084831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集中密闭筛分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负压除臭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防渗暂存与称重</a:t>
            </a:r>
          </a:p>
        </p:txBody>
      </p:sp>
      <p:sp>
        <p:nvSpPr>
          <p:cNvPr id="23" name="Chevron 22"/>
          <p:cNvSpPr/>
          <p:nvPr/>
        </p:nvSpPr>
        <p:spPr>
          <a:xfrm>
            <a:off x="7141464" y="3328416"/>
            <a:ext cx="146304" cy="292608"/>
          </a:xfrm>
          <a:prstGeom prst="chevron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96912" y="2514600"/>
            <a:ext cx="2084831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分类合规处置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检测 / 接收试验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合同 / 联单闭环</a:t>
            </a:r>
          </a:p>
        </p:txBody>
      </p:sp>
      <p:sp>
        <p:nvSpPr>
          <p:cNvPr id="28" name="Chevron 27"/>
          <p:cNvSpPr/>
          <p:nvPr/>
        </p:nvSpPr>
        <p:spPr>
          <a:xfrm>
            <a:off x="9390888" y="3328416"/>
            <a:ext cx="146304" cy="292608"/>
          </a:xfrm>
          <a:prstGeom prst="chevron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46336" y="2514600"/>
            <a:ext cx="2084831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267919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3273552"/>
            <a:ext cx="17739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基底与地下水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3776472"/>
            <a:ext cx="177393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补充调查与修复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独立效果评估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937760"/>
            <a:ext cx="11091672" cy="438912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5029200"/>
            <a:ext cx="10689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全过程保障：清污分流  ·  水气收集处理  ·  边坡监测  ·  异常废物隔离  ·  台账审计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开挖单元大小与层厚由专项设计确定，处理规模服从最弱控制环节。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04  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筛下物约占55%，合规去向是规模开挖的关键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基准垃圾湿质量212.5万吨；组分比例为模型假设，须由分层采样与中试替换。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依据：模型体积250万m³×湿密度0.85t/m³；25% / 55% / 19% / 1%均为假设。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10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04288"/>
            <a:ext cx="2606040" cy="612648"/>
          </a:xfrm>
          <a:prstGeom prst="rect">
            <a:avLst/>
          </a:prstGeom>
          <a:solidFill>
            <a:srgbClr val="B38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368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可燃物 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304288"/>
            <a:ext cx="5733288" cy="61264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468880"/>
            <a:ext cx="54955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筛下物 55%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16567" y="2304288"/>
            <a:ext cx="1980590" cy="612648"/>
          </a:xfrm>
          <a:prstGeom prst="rect">
            <a:avLst/>
          </a:prstGeom>
          <a:solidFill>
            <a:srgbClr val="77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468880"/>
            <a:ext cx="17428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无机惰性物 19%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97158" y="2304288"/>
            <a:ext cx="104241" cy="612648"/>
          </a:xfrm>
          <a:prstGeom prst="rect">
            <a:avLst/>
          </a:prstGeom>
          <a:solidFill>
            <a:srgbClr val="123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383280"/>
          <a:ext cx="110916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6655003"/>
              </a:tblGrid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产物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湿质量（万吨）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主要控制要求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可燃物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53.125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热值、氯及含水率符合接收条件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筛下物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116.875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约60%合规利用仅为假设，未落实须重算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无机惰性物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40.375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检测与性能合格后利用，否则许可处置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金属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2.125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分类整理；基准不计金属销售收入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筛下物不能仅凭土壤筛选值合格就随意回填；固废属性、用途与接收许可需分别核实。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04  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产能看末端接收，工期取决于整个处置链条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筛分设备的名义能力不能直接作为可实现开挖量。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筛分能力研究配置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6583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2条 × 150吨/小时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603504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16小时/日 × 70%综合有效率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250有效运行日/年 → 84万吨/年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6126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212.5万吨 → 纯处理约30.4个月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020824"/>
            <a:ext cx="4325112" cy="3255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2020824"/>
            <a:ext cx="41148" cy="3255264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2221992"/>
            <a:ext cx="3904487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可燃物接收若仅500吨/日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916936"/>
            <a:ext cx="3886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按25%可燃比例：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总处理上限2000吨/日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250日/年 → 50万吨/年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纯处理时间延至约4.25年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日开挖上限＝稳定性、水气处理、筛分、末端配额、运输能力中的最小值。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05  治理前中后举措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治理前先做三轮核查，把未知条件转为可审成果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调查、中试、审批与合同工作可并行；工程启动由成果控制。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12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1911095" cy="29260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25396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0—3个月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24328"/>
            <a:ext cx="3575304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24328"/>
            <a:ext cx="41148" cy="269748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25496"/>
            <a:ext cx="31546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稳运行、查边界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20440"/>
            <a:ext cx="3136392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核对合同续运与设施体检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收集验收、监测、许可原件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叠合地籍与生态空间约束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1993392"/>
            <a:ext cx="1911095" cy="29260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25396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3—6个月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2624328"/>
            <a:ext cx="3575304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2624328"/>
            <a:ext cx="41148" cy="269748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825496"/>
            <a:ext cx="315467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测工程量、做中试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520440"/>
            <a:ext cx="3136392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测绘钻探与水文地质调查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垃圾组分、密度与污染检测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代表单元接收试验及询价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993392"/>
            <a:ext cx="1911095" cy="29260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2025396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6—12个月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2624328"/>
            <a:ext cx="3575304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5008" y="2624328"/>
            <a:ext cx="41148" cy="269748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825496"/>
            <a:ext cx="315467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闭手续、闭合同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3520440"/>
            <a:ext cx="3136392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完成依法审批与专项设计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落实全部产物配额与备用去向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核实租约、资本金与融资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中试建议首批0.5—1万m³，须与密闭、暂存、水处理和接收能力匹配。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05  治理前中后举措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治理中守住水、气、坡、运四条控制线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异常触发停工与整改，安全环保义务写入合同和现场程序。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6543"/>
            <a:ext cx="2624328" cy="2944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41148" cy="29443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67712"/>
            <a:ext cx="2203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清污分流、先降液位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校核库容与备用电源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浓缩液另签接收合同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2066543"/>
            <a:ext cx="2624328" cy="2944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4136" y="2066543"/>
            <a:ext cx="41148" cy="29443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267712"/>
            <a:ext cx="220370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密闭负压、备用除臭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连续检测气体与温度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异常批次停作业撤离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066543"/>
            <a:ext cx="2624328" cy="2944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066543"/>
            <a:ext cx="41148" cy="29443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20370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自上而下分区分层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位移、裂缝与液位联动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岩土阈值由专项核定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2066543"/>
            <a:ext cx="2624328" cy="2944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2066543"/>
            <a:ext cx="41148" cy="29443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267712"/>
            <a:ext cx="220370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962656"/>
            <a:ext cx="218541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防滴漏密闭运输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双端计量与联单追溯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错峰、洗车和沿线保洁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收集失效停揭膜  ·  除臭失效停进料  ·  无合法去向暂停该批次  ·  稳定性异常停单元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05  治理前中后举措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治理后分四步交付，地下水责任按目标持续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垃圾清场、污染治理、地基安全和合法开发各有独立验收条件。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2624328" cy="2971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21408"/>
            <a:ext cx="41148" cy="297180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322576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垃圾清场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分区清场测量与核验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物料去向和库存闭合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121408"/>
            <a:ext cx="2624328" cy="2971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4136" y="2121408"/>
            <a:ext cx="41148" cy="297180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322576"/>
            <a:ext cx="164591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残污治理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基底补查、土壤修复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地下水风险控制与跟踪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2121408"/>
            <a:ext cx="2624328" cy="2971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1" y="2121408"/>
            <a:ext cx="41148" cy="297180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7" y="2322576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地基安全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洁净回填、压实检验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沉降与残留气体评价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5128" y="2121408"/>
            <a:ext cx="2624328" cy="2971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5128" y="2121408"/>
            <a:ext cx="41148" cy="297180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7" y="22768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322576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依法开发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017520"/>
            <a:ext cx="218541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用途、用地、规划手续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建筑消防与功能验收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独立效果评估通过的合规地块才能移交；园区开业不自动终止地下水跟踪。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06  投资与资金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治理投资约10.87亿元，分类处置成本最高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基准概念估算：250万m³、湿密度0.85t/m³、筛下物60%有合规利用去向。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依据：模型15项治理直接费；造价与处置单价为未询价的测算假设。金额单位：亿元。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预处理与开挖短倒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29968"/>
            <a:ext cx="4343400" cy="265176"/>
          </a:xfrm>
          <a:prstGeom prst="rect">
            <a:avLst/>
          </a:prstGeom>
          <a:solidFill>
            <a:srgbClr val="D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029968"/>
            <a:ext cx="2171700" cy="2651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956816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1.75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密闭筛分运行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551176"/>
            <a:ext cx="4343400" cy="265176"/>
          </a:xfrm>
          <a:prstGeom prst="rect">
            <a:avLst/>
          </a:prstGeom>
          <a:solidFill>
            <a:srgbClr val="D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2551176"/>
            <a:ext cx="2109651" cy="2651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478024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1.70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3580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全部产物外运及处置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072384"/>
            <a:ext cx="4343400" cy="265176"/>
          </a:xfrm>
          <a:prstGeom prst="rect">
            <a:avLst/>
          </a:prstGeom>
          <a:solidFill>
            <a:srgbClr val="D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3072384"/>
            <a:ext cx="4203480" cy="265176"/>
          </a:xfrm>
          <a:prstGeom prst="rect">
            <a:avLst/>
          </a:prstGeom>
          <a:solidFill>
            <a:srgbClr val="B38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999232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3.39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5701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密闭、水气与临设运行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593592"/>
            <a:ext cx="4343400" cy="265176"/>
          </a:xfrm>
          <a:prstGeom prst="rect">
            <a:avLst/>
          </a:prstGeom>
          <a:solidFill>
            <a:srgbClr val="D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3593592"/>
            <a:ext cx="1675311" cy="2651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3520440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1.35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7822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基底土壤与地下水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114800"/>
            <a:ext cx="4343400" cy="265176"/>
          </a:xfrm>
          <a:prstGeom prst="rect">
            <a:avLst/>
          </a:prstGeom>
          <a:solidFill>
            <a:srgbClr val="D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4114800"/>
            <a:ext cx="480876" cy="2651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4041648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0.39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99431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调查、监测及效果评估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636007"/>
            <a:ext cx="4343400" cy="265176"/>
          </a:xfrm>
          <a:prstGeom prst="rect">
            <a:avLst/>
          </a:prstGeom>
          <a:solidFill>
            <a:srgbClr val="D9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4636007"/>
            <a:ext cx="223374" cy="2651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2" y="4562855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0.18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7192" y="1956816"/>
            <a:ext cx="2103120" cy="3355848"/>
          </a:xfrm>
          <a:prstGeom prst="roundRect">
            <a:avLst>
              <a:gd name="adj" fmla="val 10000"/>
            </a:avLst>
          </a:prstGeom>
          <a:solidFill>
            <a:srgbClr val="123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2231136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治理投资合计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825496"/>
            <a:ext cx="16733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10.87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602736"/>
            <a:ext cx="16733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直接费 8.75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其他费 0.70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预备费 1.42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主要超支源：工程量与湿密度、筛下物去向、外运报价、隐藏异常废物。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06  投资与资金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一体化筹资约20.80亿元，规模与融资方案需重构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产业7.68亿元和土地1亿元均为谋划假设，未取得规划、评估与招商合同。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依据：模型概念筹资总需求；S5项目库通知第2—4页原则不超过20亿元，现行口径须核对。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16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76856"/>
            <a:ext cx="5448439" cy="6583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50592"/>
            <a:ext cx="5228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治理 10.87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5679" y="2276856"/>
            <a:ext cx="3848291" cy="658368"/>
          </a:xfrm>
          <a:prstGeom prst="rect">
            <a:avLst/>
          </a:prstGeom>
          <a:solidFill>
            <a:srgbClr val="52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5407" y="2450592"/>
            <a:ext cx="36288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产业 7.68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73970" y="2276856"/>
            <a:ext cx="501079" cy="658368"/>
          </a:xfrm>
          <a:prstGeom prst="rect">
            <a:avLst/>
          </a:prstGeom>
          <a:solidFill>
            <a:srgbClr val="B38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75050" y="2276856"/>
            <a:ext cx="476025" cy="658368"/>
          </a:xfrm>
          <a:prstGeom prst="rect">
            <a:avLst/>
          </a:prstGeom>
          <a:solidFill>
            <a:srgbClr val="A99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51076" y="2276856"/>
            <a:ext cx="150323" cy="658368"/>
          </a:xfrm>
          <a:prstGeom prst="rect">
            <a:avLst/>
          </a:prstGeom>
          <a:solidFill>
            <a:srgbClr val="9E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105156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治理10.87  +  产业7.68  +  土地1.00  +  利息0.95  +  流动资金0.30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3291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18.09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5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亿元  一体化筹资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840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170万m³情景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3977639"/>
            <a:ext cx="3291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20.80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470915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3823D"/>
                </a:solidFill>
                <a:latin typeface="Noto Sans CJK SC"/>
                <a:ea typeface="Noto Sans CJK SC"/>
                <a:cs typeface="Noto Sans CJK SC"/>
              </a:rPr>
              <a:t>亿元  一体化筹资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50840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250万m³基准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3977639"/>
            <a:ext cx="32918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25.58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470915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亿元  一体化筹资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50840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复合压力情景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基准高于20亿元原则约0.80亿元；须真实优化，不能靠拆分或漏列处置费规避。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06  投资与资金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年收入约1.12亿元，稳态可偿债现金流约4175万元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冷链收费、出租率及运营成本均为假设，正式测算须有可执行合同。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依据：财务模型稳态；金额单位：万元/年，不含增值税的简化口径，尚非市场调查结果。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17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93392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148"/>
                <a:gridCol w="1559052"/>
              </a:tblGrid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收入来源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稳态测算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冷链仓储及基础服务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8,377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沉香园租赁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979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产业增值服务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1,800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营业收入合计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11,156</a:t>
                      </a:r>
                    </a:p>
                  </a:txBody>
                  <a:tcPr marL="109728" marR="91440" marT="73152" marB="36576" anchor="ctr"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52744" y="2194560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营业收入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6336" y="2139696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11,156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798064"/>
            <a:ext cx="5486400" cy="0"/>
          </a:xfrm>
          <a:prstGeom prst="line">
            <a:avLst/>
          </a:prstGeom>
          <a:ln w="1270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52744" y="3026664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现金运营支出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6336" y="2971800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6,470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3630168"/>
            <a:ext cx="5486400" cy="0"/>
          </a:xfrm>
          <a:prstGeom prst="line">
            <a:avLst/>
          </a:prstGeom>
          <a:ln w="1270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52744" y="3858768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所得税及维护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3803904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512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4462272"/>
            <a:ext cx="5486400" cy="0"/>
          </a:xfrm>
          <a:prstGeom prst="line">
            <a:avLst/>
          </a:prstGeom>
          <a:ln w="1270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52744" y="4690872"/>
            <a:ext cx="190195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可偿债现金流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4636008"/>
            <a:ext cx="189280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4,175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现金流：11,156 − 6,470 − 212税费 − 300维护再投入 ≈ 4,175万元/年。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06  投资与资金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70%贷款方案不能成立，降低贷款比例也不等于盈利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按利率3.5%、运营后20年等额本息，年偿债负担明显高于经营现金流。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依据：财务模型；DSCR=可偿债现金流÷年本息。1.30为本稿审慎目标，非已确认银行条件。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年现金流与还本付息（万元）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可偿债现金流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2743200"/>
            <a:ext cx="1708640" cy="365760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440" y="2660904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4,175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年还本付息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3685032"/>
            <a:ext cx="4193818" cy="365760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5618" y="3602736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10,246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984248"/>
            <a:ext cx="2496312" cy="2432304"/>
          </a:xfrm>
          <a:prstGeom prst="roundRect">
            <a:avLst>
              <a:gd name="adj" fmla="val 10000"/>
            </a:avLst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2258568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稳态DSCR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779776"/>
            <a:ext cx="20208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9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0.41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3675887"/>
            <a:ext cx="2020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运营首年仅0.28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28032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项目税后FIRR  −4.42%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828032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FNPV（6%） −12.73亿元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按DSCR 1.30，稳态支持贷款约4.56亿元；首年约3.18亿元，远低于拟贷14.56亿元。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06  投资与资金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先落实公益责任与资产条件，再选择融资路径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先修正量价、落实去向和租约，按真实逐年现金流重新测算。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19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39112"/>
            <a:ext cx="5458968" cy="3310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39112"/>
            <a:ext cx="41148" cy="331012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50383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路径一｜市场化一体化继续论证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35224"/>
            <a:ext cx="5020056" cy="2340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真实资本金与合法产业资产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有约束力的运营商、租约和收费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经营收益覆盖逐年偿债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符合项目库一体化及主体要求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39112"/>
            <a:ext cx="5458968" cy="3310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39112"/>
            <a:ext cx="41148" cy="331012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5038343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路径二｜依法研究公益治理安排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935224"/>
            <a:ext cx="5020056" cy="2340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查清污染责任与公共治理责任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依法确认预算及资金来源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产业另按独立市场条件论证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重新明确实施与融资边界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政府协调不等于担保；不得以回购、差额补足、保本保收益或税返填补缺口。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07  实施周期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工程约60个月，运营达产按模型第8年检验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项目启动计M0；审批、接收配额、效果评估和资金到位决定实际进度。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20 / 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98648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04211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48179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M12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53742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97710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M24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03274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47242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M36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52805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6773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M48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02337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46305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M60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51868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95836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M72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201400" y="2322576"/>
            <a:ext cx="0" cy="310896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945368" y="19293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M84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3172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调查、方案与依法审批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2350008"/>
            <a:ext cx="1149531" cy="301752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1635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配套设施与试开挖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16828" y="2834640"/>
            <a:ext cx="574765" cy="301752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0098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分区开挖、筛分及外运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1594" y="3319272"/>
            <a:ext cx="3161211" cy="301752"/>
          </a:xfrm>
          <a:prstGeom prst="rect">
            <a:avLst/>
          </a:prstGeom>
          <a:solidFill>
            <a:srgbClr val="B38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85615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基底、地下水与效果评估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3274" y="3803904"/>
            <a:ext cx="1436914" cy="301752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70248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合规清洁地块产业建设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4288536"/>
            <a:ext cx="1724297" cy="301752"/>
          </a:xfrm>
          <a:prstGeom prst="rect">
            <a:avLst/>
          </a:prstGeom>
          <a:solidFill>
            <a:srgbClr val="52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75488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投运、招商与经营验证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2805" y="4773168"/>
            <a:ext cx="3448594" cy="301752"/>
          </a:xfrm>
          <a:prstGeom prst="rect">
            <a:avLst/>
          </a:prstGeom>
          <a:solidFill>
            <a:srgbClr val="9FB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902337" y="2185416"/>
            <a:ext cx="0" cy="3191256"/>
          </a:xfrm>
          <a:prstGeom prst="line">
            <a:avLst/>
          </a:prstGeom>
          <a:ln w="25400">
            <a:solidFill>
              <a:srgbClr val="B64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56448" y="5376672"/>
            <a:ext cx="31546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M60：工程组织目标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财务模型：第6年起运营，出租率60% → 75% → 85%；地下水跟踪按批准目标持续。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07  实施周期与风险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把六类关键风险设成门槛，并明确触发后的动作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措施落实到责任主体、合同、监测与计量支付，出现异常不以进度压过停工。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21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75104"/>
          <a:ext cx="11091671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584"/>
                <a:gridCol w="2883834"/>
                <a:gridCol w="6322253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风险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具体触发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控制与责任建议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空间不合规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产业落入禁建分区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自然资源等联合叠图；调整用途或产业位置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水气与边坡失控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库容不足、通风故障、位移异常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运营/施工按专项停工，备用系统与独立复核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产物拒收或隐藏异常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接收限量、检修、疑似危废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项目公司备选去向；隔离鉴别，库存联动停挖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投资超支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实量上升、去向变更、价格上涨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设计/造价审查；中试询价，重大变更另报批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融资与招商不足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资本金未到位、租约和DSCR不足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投资主体重做平衡；分期产业，禁止政府兜底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扰民、数据与廉政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气味投诉、漏液、虚报运量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公开响应；独立监测审计，双端计量后支付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FB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B6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64E46"/>
                </a:solidFill>
                <a:latin typeface="Noto Sans CJK SC"/>
                <a:ea typeface="Noto Sans CJK SC"/>
                <a:cs typeface="Noto Sans CJK SC"/>
              </a:rPr>
              <a:t>四项条件未落实不规模启动；环境效果未通过不移交，关键计量不可信暂停支付。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大岭山镇旧飞鹅填埋场  /  08  提请镇领导决策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67B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本轮建议：批准前期论证，四项成果齐备后再决策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建议前期调查、勘察、中试与专题论证暂列800万元，按成果分阶段释放。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2F5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22 / 25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093976"/>
            <a:ext cx="384048" cy="384048"/>
          </a:xfrm>
          <a:prstGeom prst="ellipse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1351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8026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成立专班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2116836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统一现状运维、空间、技术、资金与社区沟通责任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98064"/>
            <a:ext cx="384048" cy="384048"/>
          </a:xfrm>
          <a:prstGeom prst="ellipse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83921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8434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先保运行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2820924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10个工作日内核对合同续接、设施与应急安排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502152"/>
            <a:ext cx="384048" cy="384048"/>
          </a:xfrm>
          <a:prstGeom prst="ellipse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54330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8843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组织前期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3525012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30个工作日初判空间；3—6个月完成代表性调查中试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4738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19252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成果复审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6" y="4229100"/>
            <a:ext cx="799185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DDEDE7"/>
                </a:solidFill>
                <a:latin typeface="Noto Sans CJK SC"/>
                <a:ea typeface="Noto Sans CJK SC"/>
                <a:cs typeface="Noto Sans CJK SC"/>
              </a:rPr>
              <a:t>带着量价、去向、空间和真实现金流重新上会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39512"/>
            <a:ext cx="11091672" cy="841248"/>
          </a:xfrm>
          <a:prstGeom prst="roundRect">
            <a:avLst>
              <a:gd name="adj" fmla="val 10000"/>
            </a:avLst>
          </a:prstGeom>
          <a:solidFill>
            <a:srgbClr val="23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449824"/>
            <a:ext cx="10680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形成四份成果：合法空间底图  ·  中试询价概算  ·  全产物接收合同  ·  逐年资金平衡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附录  参数与口径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附录一｜关键假设公开，正式立项前逐项替换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所有数字区分附件线索与测算假设；价格、工程量、租约与贷款均未最终落实。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23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56816"/>
          <a:ext cx="11091671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751"/>
                <a:gridCol w="3882085"/>
                <a:gridCol w="4214835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参数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模型值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核实任务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体积 / 湿密度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250万m³ / 0.85t/m³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测绘钻探、分层称重与组分试验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筛下物合规利用率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60%（仅假设）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固废属性、质量、用途与接收许可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冷链 / 沉香建筑面积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12万 / 4万m²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空间合规、需求和地基设计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冷链 / 沉香收费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3元/m²·日 / 30元/m²·月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含服务口径、成本、核心租约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计费率 / 稳态出租率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冷链75%、沉香80% / 85%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计费面积、可出租面积、真实入住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贷款 / 折现 / 评价期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3.5% / 6% / 建设5年+运营20年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授信条件、提款还本和正式财务模型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就业350—550个为研究区间；不把租户产值、土地出让或未来税收计入还款收入。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附录  决策问答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附录二｜领导常问的四个问题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用可审证据回答工程、资金与土地问题，避免过度承诺。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24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11680"/>
          <a:ext cx="1109167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68"/>
                <a:gridCol w="7320503"/>
              </a:tblGrid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问题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汇报回答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能否立即全场开挖？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先保障运维并做调查；四项条件全部具备后才规模实施。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产业能否自行偿还全部投入？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现有模型不能。DSCR约0.41、FIRR约−4.42%，须重构。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为何玉龙21.7亿、旧飞鹅10.87亿？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范围与参数尚不同口径；玉龙数据未官方核验，不能据此称更便宜。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清完垃圾即可建园区吗？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还须残污治理、地基验收及用地规划等手续，地下水持续跟踪。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DD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5650992"/>
            <a:ext cx="45720" cy="493776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760720"/>
            <a:ext cx="10753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支持启动治理谋划；投资额、融资结构、开发用途与规模工程均以正式成果再审。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7F83"/>
                </a:solidFill>
                <a:latin typeface="Noto Sans CJK SC"/>
                <a:ea typeface="Noto Sans CJK SC"/>
                <a:cs typeface="Noto Sans CJK SC"/>
              </a:rPr>
              <a:t>大岭山镇旧飞鹅填埋场  /  附录  依据与核验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91440" cy="429768"/>
          </a:xfrm>
          <a:prstGeom prst="rect">
            <a:avLst/>
          </a:prstGeom>
          <a:solidFill>
            <a:srgbClr val="0B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04088"/>
            <a:ext cx="1084478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233C43"/>
                </a:solidFill>
                <a:latin typeface="Noto Sans CJK SC"/>
                <a:ea typeface="Noto Sans CJK SC"/>
                <a:cs typeface="Noto Sans CJK SC"/>
              </a:rPr>
              <a:t>附录三｜资料定位与补证清单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8539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8份已读取附件＋概念测算；玉龙官方资料和现行标准状态仍需补核。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9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依据现有可研决策稿编制；概念阶段测算，待调查、询价与审批确认。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25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02536"/>
          <a:ext cx="6775703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225"/>
                <a:gridCol w="4607478"/>
              </a:tblGrid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依据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已用内容 / 正式补证</a:t>
                      </a:r>
                    </a:p>
                  </a:txBody>
                  <a:tcPr marL="109728" marR="91440" marT="73152" marB="36576" anchor="ctr">
                    <a:solidFill>
                      <a:srgbClr val="1235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S1 场地整治情况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水量、能力、封场；补合同、台账、监测原件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S2 / S4 背景与初步方案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170万m³、280亩、双园区；补空间与招商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S3 玉龙对标分析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工艺与投资线索；补官方批复、招标与进展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S5 金融项目库通知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主体、20亿元原则及禁止项；核对现行执行</a:t>
                      </a:r>
                    </a:p>
                  </a:txBody>
                  <a:tcPr marL="109728" marR="91440" marT="73152" marB="36576" anchor="ctr">
                    <a:solidFill>
                      <a:srgbClr val="F5F8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S6 / S7 / S8 技术资料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33C43"/>
                          </a:solidFill>
                          <a:latin typeface="Noto Sans CJK SC"/>
                          <a:ea typeface="Noto Sans CJK SC"/>
                        </a:rPr>
                        <a:t>征求意见稿及外省导则；核对广东适用规范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10_source_ope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2011680"/>
            <a:ext cx="3831336" cy="36438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6096" y="5715000"/>
            <a:ext cx="3831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2777D"/>
                </a:solidFill>
                <a:latin typeface="Noto Sans CJK SC"/>
                <a:ea typeface="Noto Sans CJK SC"/>
                <a:cs typeface="Noto Sans CJK SC"/>
              </a:rPr>
              <a:t>S1第3页运行资料节选（用户附件）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大岭山镇旧飞鹅垃圾填埋场开挖综合治理｜镇领导汇报</dc:title>
  <dc:subject>概念阶段决策汇报：必要性、技术路线、投资收益、风险与近期决策</dc:subject>
  <dc:creator>项目研究组</dc:creator>
  <cp:keywords>旧飞鹅,大岭山,开挖治理,可行性研究,领导汇报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